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Task 3. Rather than pitch one architecture, I present five, as a ladder. Each rung is something you could actually deploy on its own. The key discipline: whatever I list as a limitation on one slide is precisely what the next slide's architecture is built to solve. Three things change as we climb — first autonomy, then coverage, then how the system reasons about what it doesn't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smallest thing that is genuinely useful. The analyst asks, one Investment Case Agent answers, and it holds exactly one data source — insurance claims — and one tool, the TAM estimator I built in Task 2. Note this is not a hypothetical: claims data and an RWE capability already sit in your published agent landscape. I would ship this rung first because it is fully inspectable — if the answer is wrong you can see which tool call produced it. The limitation is that this agent is a generalist holding a specialist's data. It cannot get better at real-world evidence without getting worse at everything else.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skeleton, one change: the orchestrator no longer owns the data or the tool. It delegates to an RWE agent that owns both. This matters because the epidemiology prompt, the claims schema, and the TAM tool now evolve as one unit that I can test in isolation. The orchestrator becomes a router. The new failure mode is that routing errors are silent — the orchestrator confidently sends a financial question to the epidemiologist and gets a confident answer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your landscape, minus the portfolio, risk and screening layer. One Investment Case Agent, three specialists, a shared data layer and a shared tool layer — so the TAM estimator is written once and used by anyone. The analyst interface stays deliberately simple: thesis in, thesis out. The third bar is the one I would push hardest for: skill sets. Not a prompt library that humans copy from — versioned folders of instructions and scripts the agent loads on demand, disclosed progressively so a hundred of them cost nothing until one is invoked. The house rNPV convention, the TAM funnel method, the rule that nothing ships without an interval. Write it once, every agent inherits it, and crucially it becomes a unit you can version and regression-test. The flip side is honest: a wrong skill now propagates to every agent at once. The real cost here is arbitration. When the trials agent and the financials agent disagree about probability of success, something has to adjudicate, and right now that something is a language model. The deeper limitation is coverage of attention: this system only ever answers questions a human thought to 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ecosystem, but nobody starts it. A scheduler runs it quarterly, and your Events Agent wakes it on a trial readout, an 8-K, or a label change — so automation here is wiring together two agents you already have, not inventing a new one. It fans out across every company in the portfolio and writes a templated report for each. I want to be blunt about the cost. The hard part of removing the human is not orchestration — it is that you also removed the person who read the output adversarially. At N companies a hallucinated citation no longer inconveniences one analyst; it propagates into a report nobody asked for and therefore nobody reads carefully. Errors scale with N. That is what slide 7 exists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it stops being automation and starts being science. Two additions. First, every output carries quantified uncertainty rather than a point estimate. Second — active sensing — the system computes which missing piece of information would most reduce that uncertainty, and if the data does not exist anywhere, it delegates acquisition back to a human. Concretely, that is my Task 2 automated: I showed that diagnosed prevalence carries roughly 58 percent of the variance in the Camzyos TAM. A system that says 'commission a 2026 prevalence read, it is worth more than everything else combined' is exactly this rung. Note that stage 4 removed the human and stage 5 summons them back — but now only when it is worth their time. This is also the one rung that is not in your published landscape today, and slide 7 is the 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I care most about. Everything before it, a good engineer could draw. Evaluating an agentic system whose ground truth arrives in three years is the scientist's question. I measure at four layers, from narrow to broad: does each tool work, did the system reason its way there, is the final answer good, and did it change a decision. The hard part is the bottom bar. We cannot wait for outcomes — but we can backtest on readouts that have already happened, holding out everything after the cutoff, and check calibration. That is exactly what I do at Roche with surrogate endpoints before a Phase 3 go/no-go. A system that is wrong but calibrated is usable, because you can size the position accordingly. A system that is right but overconfident will eventually kill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685800"/>
            <a:ext cx="10698480" cy="68580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Task 3 — An agentic AI investment research system</a:t>
            </a:r>
            <a:endParaRPr lang="en-US" sz="3200" dirty="0"/>
          </a:p>
        </p:txBody>
      </p:sp>
      <p:sp>
        <p:nvSpPr>
          <p:cNvPr id="3" name="Text 1"/>
          <p:cNvSpPr/>
          <p:nvPr/>
        </p:nvSpPr>
        <p:spPr>
          <a:xfrm>
            <a:off x="731520" y="1463040"/>
            <a:ext cx="9692640" cy="731520"/>
          </a:xfrm>
          <a:prstGeom prst="rect">
            <a:avLst/>
          </a:prstGeom>
          <a:noFill/>
          <a:ln/>
        </p:spPr>
        <p:txBody>
          <a:bodyPr wrap="square" lIns="0" tIns="0" rIns="0" bIns="0" rtlCol="0" anchor="ctr"/>
          <a:lstStyle/>
          <a:p>
            <a:pPr indent="0" marL="0">
              <a:buNone/>
            </a:pPr>
            <a:r>
              <a:rPr lang="en-US" sz="1350" dirty="0">
                <a:solidFill>
                  <a:srgbClr val="CADCFC"/>
                </a:solidFill>
                <a:latin typeface="Calibri" pitchFamily="34" charset="0"/>
                <a:ea typeface="Calibri" pitchFamily="34" charset="-122"/>
                <a:cs typeface="Calibri" pitchFamily="34" charset="-120"/>
              </a:rPr>
              <a:t>Pitch an architecture that turns analyst research into a system. Presented as a capability ladder: each rung is deployable on its own, and each rung's limitation is what the next rung exists to solve.</a:t>
            </a:r>
            <a:endParaRPr lang="en-US" sz="1350" dirty="0"/>
          </a:p>
        </p:txBody>
      </p:sp>
      <p:sp>
        <p:nvSpPr>
          <p:cNvPr id="4" name="Shape 2"/>
          <p:cNvSpPr/>
          <p:nvPr/>
        </p:nvSpPr>
        <p:spPr>
          <a:xfrm>
            <a:off x="1325880" y="3566160"/>
            <a:ext cx="9326880" cy="0"/>
          </a:xfrm>
          <a:prstGeom prst="line">
            <a:avLst/>
          </a:prstGeom>
          <a:noFill/>
          <a:ln w="19050">
            <a:solidFill>
              <a:srgbClr val="4A5580"/>
            </a:solidFill>
            <a:prstDash val="dash"/>
          </a:ln>
        </p:spPr>
      </p:sp>
      <p:sp>
        <p:nvSpPr>
          <p:cNvPr id="5" name="Shape 3"/>
          <p:cNvSpPr/>
          <p:nvPr/>
        </p:nvSpPr>
        <p:spPr>
          <a:xfrm>
            <a:off x="1051560" y="3291840"/>
            <a:ext cx="548640" cy="548640"/>
          </a:xfrm>
          <a:prstGeom prst="ellipse">
            <a:avLst/>
          </a:prstGeom>
          <a:solidFill>
            <a:srgbClr val="CADCFC"/>
          </a:solidFill>
          <a:ln/>
        </p:spPr>
      </p:sp>
      <p:sp>
        <p:nvSpPr>
          <p:cNvPr id="6" name="Text 4"/>
          <p:cNvSpPr/>
          <p:nvPr/>
        </p:nvSpPr>
        <p:spPr>
          <a:xfrm>
            <a:off x="1051560" y="3291840"/>
            <a:ext cx="548640" cy="54864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1</a:t>
            </a:r>
            <a:endParaRPr lang="en-US" sz="1600" dirty="0"/>
          </a:p>
        </p:txBody>
      </p:sp>
      <p:sp>
        <p:nvSpPr>
          <p:cNvPr id="7" name="Text 5"/>
          <p:cNvSpPr/>
          <p:nvPr/>
        </p:nvSpPr>
        <p:spPr>
          <a:xfrm>
            <a:off x="457200" y="3950208"/>
            <a:ext cx="1737360" cy="5943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Simple</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agent</a:t>
            </a:r>
            <a:endParaRPr lang="en-US" sz="1250" dirty="0"/>
          </a:p>
        </p:txBody>
      </p:sp>
      <p:sp>
        <p:nvSpPr>
          <p:cNvPr id="8" name="Text 6"/>
          <p:cNvSpPr/>
          <p:nvPr/>
        </p:nvSpPr>
        <p:spPr>
          <a:xfrm>
            <a:off x="457200" y="4553712"/>
            <a:ext cx="1737360" cy="548640"/>
          </a:xfrm>
          <a:prstGeom prst="rect">
            <a:avLst/>
          </a:prstGeom>
          <a:noFill/>
          <a:ln/>
        </p:spPr>
        <p:txBody>
          <a:bodyPr wrap="square" lIns="0" tIns="0" rIns="0" bIns="0" rtlCol="0" anchor="ctr"/>
          <a:lstStyle/>
          <a:p>
            <a:pPr algn="ctr" indent="0" marL="0">
              <a:buNone/>
            </a:pPr>
            <a:r>
              <a:rPr lang="en-US" sz="1000" i="1" dirty="0">
                <a:solidFill>
                  <a:srgbClr val="9DAAD0"/>
                </a:solidFill>
                <a:latin typeface="Calibri" pitchFamily="34" charset="0"/>
                <a:ea typeface="Calibri" pitchFamily="34" charset="-122"/>
                <a:cs typeface="Calibri" pitchFamily="34" charset="-120"/>
              </a:rPr>
              <a:t>one analyst,</a:t>
            </a:r>
            <a:endParaRPr lang="en-US" sz="1000" dirty="0"/>
          </a:p>
          <a:p>
            <a:pPr algn="ctr" indent="0" marL="0">
              <a:buNone/>
            </a:pPr>
            <a:r>
              <a:rPr lang="en-US" sz="1000" i="1" dirty="0">
                <a:solidFill>
                  <a:srgbClr val="9DAAD0"/>
                </a:solidFill>
                <a:latin typeface="Calibri" pitchFamily="34" charset="0"/>
                <a:ea typeface="Calibri" pitchFamily="34" charset="-122"/>
                <a:cs typeface="Calibri" pitchFamily="34" charset="-120"/>
              </a:rPr>
              <a:t>one tool</a:t>
            </a:r>
            <a:endParaRPr lang="en-US" sz="1000" dirty="0"/>
          </a:p>
        </p:txBody>
      </p:sp>
      <p:sp>
        <p:nvSpPr>
          <p:cNvPr id="9" name="Shape 7"/>
          <p:cNvSpPr/>
          <p:nvPr/>
        </p:nvSpPr>
        <p:spPr>
          <a:xfrm>
            <a:off x="3383280" y="3291840"/>
            <a:ext cx="548640" cy="548640"/>
          </a:xfrm>
          <a:prstGeom prst="ellipse">
            <a:avLst/>
          </a:prstGeom>
          <a:solidFill>
            <a:srgbClr val="CADCFC"/>
          </a:solidFill>
          <a:ln/>
        </p:spPr>
      </p:sp>
      <p:sp>
        <p:nvSpPr>
          <p:cNvPr id="10" name="Text 8"/>
          <p:cNvSpPr/>
          <p:nvPr/>
        </p:nvSpPr>
        <p:spPr>
          <a:xfrm>
            <a:off x="3383280" y="3291840"/>
            <a:ext cx="548640" cy="54864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2</a:t>
            </a:r>
            <a:endParaRPr lang="en-US" sz="1600" dirty="0"/>
          </a:p>
        </p:txBody>
      </p:sp>
      <p:sp>
        <p:nvSpPr>
          <p:cNvPr id="11" name="Text 9"/>
          <p:cNvSpPr/>
          <p:nvPr/>
        </p:nvSpPr>
        <p:spPr>
          <a:xfrm>
            <a:off x="2788920" y="3950208"/>
            <a:ext cx="1737360" cy="5943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Delegation</a:t>
            </a:r>
            <a:endParaRPr lang="en-US" sz="1250" dirty="0"/>
          </a:p>
        </p:txBody>
      </p:sp>
      <p:sp>
        <p:nvSpPr>
          <p:cNvPr id="12" name="Text 10"/>
          <p:cNvSpPr/>
          <p:nvPr/>
        </p:nvSpPr>
        <p:spPr>
          <a:xfrm>
            <a:off x="2788920" y="4553712"/>
            <a:ext cx="1737360" cy="548640"/>
          </a:xfrm>
          <a:prstGeom prst="rect">
            <a:avLst/>
          </a:prstGeom>
          <a:noFill/>
          <a:ln/>
        </p:spPr>
        <p:txBody>
          <a:bodyPr wrap="square" lIns="0" tIns="0" rIns="0" bIns="0" rtlCol="0" anchor="ctr"/>
          <a:lstStyle/>
          <a:p>
            <a:pPr algn="ctr" indent="0" marL="0">
              <a:buNone/>
            </a:pPr>
            <a:r>
              <a:rPr lang="en-US" sz="1000" i="1" dirty="0">
                <a:solidFill>
                  <a:srgbClr val="9DAAD0"/>
                </a:solidFill>
                <a:latin typeface="Calibri" pitchFamily="34" charset="0"/>
                <a:ea typeface="Calibri" pitchFamily="34" charset="-122"/>
                <a:cs typeface="Calibri" pitchFamily="34" charset="-120"/>
              </a:rPr>
              <a:t>specialist</a:t>
            </a:r>
            <a:endParaRPr lang="en-US" sz="1000" dirty="0"/>
          </a:p>
          <a:p>
            <a:pPr algn="ctr" indent="0" marL="0">
              <a:buNone/>
            </a:pPr>
            <a:r>
              <a:rPr lang="en-US" sz="1000" i="1" dirty="0">
                <a:solidFill>
                  <a:srgbClr val="9DAAD0"/>
                </a:solidFill>
                <a:latin typeface="Calibri" pitchFamily="34" charset="0"/>
                <a:ea typeface="Calibri" pitchFamily="34" charset="-122"/>
                <a:cs typeface="Calibri" pitchFamily="34" charset="-120"/>
              </a:rPr>
              <a:t>sub-agent</a:t>
            </a:r>
            <a:endParaRPr lang="en-US" sz="1000" dirty="0"/>
          </a:p>
        </p:txBody>
      </p:sp>
      <p:sp>
        <p:nvSpPr>
          <p:cNvPr id="13" name="Shape 11"/>
          <p:cNvSpPr/>
          <p:nvPr/>
        </p:nvSpPr>
        <p:spPr>
          <a:xfrm>
            <a:off x="5715000" y="3291840"/>
            <a:ext cx="548640" cy="548640"/>
          </a:xfrm>
          <a:prstGeom prst="ellipse">
            <a:avLst/>
          </a:prstGeom>
          <a:solidFill>
            <a:srgbClr val="CADCFC"/>
          </a:solidFill>
          <a:ln/>
        </p:spPr>
      </p:sp>
      <p:sp>
        <p:nvSpPr>
          <p:cNvPr id="14" name="Text 12"/>
          <p:cNvSpPr/>
          <p:nvPr/>
        </p:nvSpPr>
        <p:spPr>
          <a:xfrm>
            <a:off x="5715000" y="3291840"/>
            <a:ext cx="548640" cy="54864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3</a:t>
            </a:r>
            <a:endParaRPr lang="en-US" sz="1600" dirty="0"/>
          </a:p>
        </p:txBody>
      </p:sp>
      <p:sp>
        <p:nvSpPr>
          <p:cNvPr id="15" name="Text 13"/>
          <p:cNvSpPr/>
          <p:nvPr/>
        </p:nvSpPr>
        <p:spPr>
          <a:xfrm>
            <a:off x="5120640" y="3950208"/>
            <a:ext cx="1737360" cy="5943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Multi-agent</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ecosystem</a:t>
            </a:r>
            <a:endParaRPr lang="en-US" sz="1250" dirty="0"/>
          </a:p>
        </p:txBody>
      </p:sp>
      <p:sp>
        <p:nvSpPr>
          <p:cNvPr id="16" name="Text 14"/>
          <p:cNvSpPr/>
          <p:nvPr/>
        </p:nvSpPr>
        <p:spPr>
          <a:xfrm>
            <a:off x="5120640" y="4553712"/>
            <a:ext cx="1737360" cy="548640"/>
          </a:xfrm>
          <a:prstGeom prst="rect">
            <a:avLst/>
          </a:prstGeom>
          <a:noFill/>
          <a:ln/>
        </p:spPr>
        <p:txBody>
          <a:bodyPr wrap="square" lIns="0" tIns="0" rIns="0" bIns="0" rtlCol="0" anchor="ctr"/>
          <a:lstStyle/>
          <a:p>
            <a:pPr algn="ctr" indent="0" marL="0">
              <a:buNone/>
            </a:pPr>
            <a:r>
              <a:rPr lang="en-US" sz="1000" i="1" dirty="0">
                <a:solidFill>
                  <a:srgbClr val="9DAAD0"/>
                </a:solidFill>
                <a:latin typeface="Calibri" pitchFamily="34" charset="0"/>
                <a:ea typeface="Calibri" pitchFamily="34" charset="-122"/>
                <a:cs typeface="Calibri" pitchFamily="34" charset="-120"/>
              </a:rPr>
              <a:t>full research</a:t>
            </a:r>
            <a:endParaRPr lang="en-US" sz="1000" dirty="0"/>
          </a:p>
          <a:p>
            <a:pPr algn="ctr" indent="0" marL="0">
              <a:buNone/>
            </a:pPr>
            <a:r>
              <a:rPr lang="en-US" sz="1000" i="1" dirty="0">
                <a:solidFill>
                  <a:srgbClr val="9DAAD0"/>
                </a:solidFill>
                <a:latin typeface="Calibri" pitchFamily="34" charset="0"/>
                <a:ea typeface="Calibri" pitchFamily="34" charset="-122"/>
                <a:cs typeface="Calibri" pitchFamily="34" charset="-120"/>
              </a:rPr>
              <a:t>coverage</a:t>
            </a:r>
            <a:endParaRPr lang="en-US" sz="1000" dirty="0"/>
          </a:p>
        </p:txBody>
      </p:sp>
      <p:sp>
        <p:nvSpPr>
          <p:cNvPr id="17" name="Shape 15"/>
          <p:cNvSpPr/>
          <p:nvPr/>
        </p:nvSpPr>
        <p:spPr>
          <a:xfrm>
            <a:off x="8046720" y="3291840"/>
            <a:ext cx="548640" cy="548640"/>
          </a:xfrm>
          <a:prstGeom prst="ellipse">
            <a:avLst/>
          </a:prstGeom>
          <a:solidFill>
            <a:srgbClr val="CADCFC"/>
          </a:solidFill>
          <a:ln/>
        </p:spPr>
      </p:sp>
      <p:sp>
        <p:nvSpPr>
          <p:cNvPr id="18" name="Text 16"/>
          <p:cNvSpPr/>
          <p:nvPr/>
        </p:nvSpPr>
        <p:spPr>
          <a:xfrm>
            <a:off x="8046720" y="3291840"/>
            <a:ext cx="548640" cy="54864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4</a:t>
            </a:r>
            <a:endParaRPr lang="en-US" sz="1600" dirty="0"/>
          </a:p>
        </p:txBody>
      </p:sp>
      <p:sp>
        <p:nvSpPr>
          <p:cNvPr id="19" name="Text 17"/>
          <p:cNvSpPr/>
          <p:nvPr/>
        </p:nvSpPr>
        <p:spPr>
          <a:xfrm>
            <a:off x="7452360" y="3950208"/>
            <a:ext cx="1737360" cy="5943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Automated</a:t>
            </a:r>
            <a:endParaRPr lang="en-US" sz="1250" dirty="0"/>
          </a:p>
        </p:txBody>
      </p:sp>
      <p:sp>
        <p:nvSpPr>
          <p:cNvPr id="20" name="Text 18"/>
          <p:cNvSpPr/>
          <p:nvPr/>
        </p:nvSpPr>
        <p:spPr>
          <a:xfrm>
            <a:off x="7452360" y="4553712"/>
            <a:ext cx="1737360" cy="548640"/>
          </a:xfrm>
          <a:prstGeom prst="rect">
            <a:avLst/>
          </a:prstGeom>
          <a:noFill/>
          <a:ln/>
        </p:spPr>
        <p:txBody>
          <a:bodyPr wrap="square" lIns="0" tIns="0" rIns="0" bIns="0" rtlCol="0" anchor="ctr"/>
          <a:lstStyle/>
          <a:p>
            <a:pPr algn="ctr" indent="0" marL="0">
              <a:buNone/>
            </a:pPr>
            <a:r>
              <a:rPr lang="en-US" sz="1000" i="1" dirty="0">
                <a:solidFill>
                  <a:srgbClr val="9DAAD0"/>
                </a:solidFill>
                <a:latin typeface="Calibri" pitchFamily="34" charset="0"/>
                <a:ea typeface="Calibri" pitchFamily="34" charset="-122"/>
                <a:cs typeface="Calibri" pitchFamily="34" charset="-120"/>
              </a:rPr>
              <a:t>scheduled +</a:t>
            </a:r>
            <a:endParaRPr lang="en-US" sz="1000" dirty="0"/>
          </a:p>
          <a:p>
            <a:pPr algn="ctr" indent="0" marL="0">
              <a:buNone/>
            </a:pPr>
            <a:r>
              <a:rPr lang="en-US" sz="1000" i="1" dirty="0">
                <a:solidFill>
                  <a:srgbClr val="9DAAD0"/>
                </a:solidFill>
                <a:latin typeface="Calibri" pitchFamily="34" charset="0"/>
                <a:ea typeface="Calibri" pitchFamily="34" charset="-122"/>
                <a:cs typeface="Calibri" pitchFamily="34" charset="-120"/>
              </a:rPr>
              <a:t>event-driven</a:t>
            </a:r>
            <a:endParaRPr lang="en-US" sz="1000" dirty="0"/>
          </a:p>
        </p:txBody>
      </p:sp>
      <p:sp>
        <p:nvSpPr>
          <p:cNvPr id="21" name="Shape 19"/>
          <p:cNvSpPr/>
          <p:nvPr/>
        </p:nvSpPr>
        <p:spPr>
          <a:xfrm>
            <a:off x="10378440" y="3291840"/>
            <a:ext cx="548640" cy="548640"/>
          </a:xfrm>
          <a:prstGeom prst="ellipse">
            <a:avLst/>
          </a:prstGeom>
          <a:solidFill>
            <a:srgbClr val="C8862A"/>
          </a:solidFill>
          <a:ln/>
        </p:spPr>
      </p:sp>
      <p:sp>
        <p:nvSpPr>
          <p:cNvPr id="22" name="Text 20"/>
          <p:cNvSpPr/>
          <p:nvPr/>
        </p:nvSpPr>
        <p:spPr>
          <a:xfrm>
            <a:off x="10378440" y="3291840"/>
            <a:ext cx="548640" cy="548640"/>
          </a:xfrm>
          <a:prstGeom prst="rect">
            <a:avLst/>
          </a:prstGeom>
          <a:noFill/>
          <a:ln/>
        </p:spPr>
        <p:txBody>
          <a:bodyPr wrap="square" lIns="0" tIns="0" rIns="0" bIns="0" rtlCol="0" anchor="ctr"/>
          <a:lstStyle/>
          <a:p>
            <a:pPr algn="ctr" indent="0" marL="0">
              <a:buNone/>
            </a:pPr>
            <a:r>
              <a:rPr lang="en-US" sz="1600" b="1" dirty="0">
                <a:solidFill>
                  <a:srgbClr val="1E2761"/>
                </a:solidFill>
                <a:latin typeface="Calibri" pitchFamily="34" charset="0"/>
                <a:ea typeface="Calibri" pitchFamily="34" charset="-122"/>
                <a:cs typeface="Calibri" pitchFamily="34" charset="-120"/>
              </a:rPr>
              <a:t>5</a:t>
            </a:r>
            <a:endParaRPr lang="en-US" sz="1600" dirty="0"/>
          </a:p>
        </p:txBody>
      </p:sp>
      <p:sp>
        <p:nvSpPr>
          <p:cNvPr id="23" name="Text 21"/>
          <p:cNvSpPr/>
          <p:nvPr/>
        </p:nvSpPr>
        <p:spPr>
          <a:xfrm>
            <a:off x="9784080" y="3950208"/>
            <a:ext cx="1737360" cy="594360"/>
          </a:xfrm>
          <a:prstGeom prst="rect">
            <a:avLst/>
          </a:prstGeom>
          <a:noFill/>
          <a:ln/>
        </p:spPr>
        <p:txBody>
          <a:bodyPr wrap="square" lIns="0" tIns="0" rIns="0" bIns="0" rtlCol="0" anchor="ctr"/>
          <a:lstStyle/>
          <a:p>
            <a:pPr algn="ctr" indent="0" marL="0">
              <a:buNone/>
            </a:pPr>
            <a:r>
              <a:rPr lang="en-US" sz="1250" b="1" dirty="0">
                <a:solidFill>
                  <a:srgbClr val="FFFFFF"/>
                </a:solidFill>
                <a:latin typeface="Calibri" pitchFamily="34" charset="0"/>
                <a:ea typeface="Calibri" pitchFamily="34" charset="-122"/>
                <a:cs typeface="Calibri" pitchFamily="34" charset="-120"/>
              </a:rPr>
              <a:t>Uncertainty-</a:t>
            </a:r>
            <a:endParaRPr lang="en-US" sz="1250" dirty="0"/>
          </a:p>
          <a:p>
            <a:pPr algn="ctr" indent="0" marL="0">
              <a:buNone/>
            </a:pPr>
            <a:r>
              <a:rPr lang="en-US" sz="1250" b="1" dirty="0">
                <a:solidFill>
                  <a:srgbClr val="FFFFFF"/>
                </a:solidFill>
                <a:latin typeface="Calibri" pitchFamily="34" charset="0"/>
                <a:ea typeface="Calibri" pitchFamily="34" charset="-122"/>
                <a:cs typeface="Calibri" pitchFamily="34" charset="-120"/>
              </a:rPr>
              <a:t>aware</a:t>
            </a:r>
            <a:endParaRPr lang="en-US" sz="1250" dirty="0"/>
          </a:p>
        </p:txBody>
      </p:sp>
      <p:sp>
        <p:nvSpPr>
          <p:cNvPr id="24" name="Text 22"/>
          <p:cNvSpPr/>
          <p:nvPr/>
        </p:nvSpPr>
        <p:spPr>
          <a:xfrm>
            <a:off x="9784080" y="4553712"/>
            <a:ext cx="1737360" cy="548640"/>
          </a:xfrm>
          <a:prstGeom prst="rect">
            <a:avLst/>
          </a:prstGeom>
          <a:noFill/>
          <a:ln/>
        </p:spPr>
        <p:txBody>
          <a:bodyPr wrap="square" lIns="0" tIns="0" rIns="0" bIns="0" rtlCol="0" anchor="ctr"/>
          <a:lstStyle/>
          <a:p>
            <a:pPr algn="ctr" indent="0" marL="0">
              <a:buNone/>
            </a:pPr>
            <a:r>
              <a:rPr lang="en-US" sz="1000" i="1" dirty="0">
                <a:solidFill>
                  <a:srgbClr val="9DAAD0"/>
                </a:solidFill>
                <a:latin typeface="Calibri" pitchFamily="34" charset="0"/>
                <a:ea typeface="Calibri" pitchFamily="34" charset="-122"/>
                <a:cs typeface="Calibri" pitchFamily="34" charset="-120"/>
              </a:rPr>
              <a:t>active sensing,</a:t>
            </a:r>
            <a:endParaRPr lang="en-US" sz="1000" dirty="0"/>
          </a:p>
          <a:p>
            <a:pPr algn="ctr" indent="0" marL="0">
              <a:buNone/>
            </a:pPr>
            <a:r>
              <a:rPr lang="en-US" sz="1000" i="1" dirty="0">
                <a:solidFill>
                  <a:srgbClr val="9DAAD0"/>
                </a:solidFill>
                <a:latin typeface="Calibri" pitchFamily="34" charset="0"/>
                <a:ea typeface="Calibri" pitchFamily="34" charset="-122"/>
                <a:cs typeface="Calibri" pitchFamily="34" charset="-120"/>
              </a:rPr>
              <a:t>human-in-loop</a:t>
            </a:r>
            <a:endParaRPr lang="en-US" sz="1000" dirty="0"/>
          </a:p>
        </p:txBody>
      </p:sp>
      <p:sp>
        <p:nvSpPr>
          <p:cNvPr id="25" name="Text 23"/>
          <p:cNvSpPr/>
          <p:nvPr/>
        </p:nvSpPr>
        <p:spPr>
          <a:xfrm>
            <a:off x="731520" y="5532120"/>
            <a:ext cx="7772400" cy="365760"/>
          </a:xfrm>
          <a:prstGeom prst="rect">
            <a:avLst/>
          </a:prstGeom>
          <a:noFill/>
          <a:ln/>
        </p:spPr>
        <p:txBody>
          <a:bodyPr wrap="square" lIns="0" tIns="0" rIns="0" bIns="0" rtlCol="0" anchor="ctr"/>
          <a:lstStyle/>
          <a:p>
            <a:pPr indent="0" marL="0">
              <a:buNone/>
            </a:pPr>
            <a:r>
              <a:rPr lang="en-US" sz="1250" dirty="0">
                <a:solidFill>
                  <a:srgbClr val="9DAAD0"/>
                </a:solidFill>
                <a:latin typeface="Calibri" pitchFamily="34" charset="0"/>
                <a:ea typeface="Calibri" pitchFamily="34" charset="-122"/>
                <a:cs typeface="Calibri" pitchFamily="34" charset="-120"/>
              </a:rPr>
              <a:t>What changes across the ladder:   </a:t>
            </a:r>
            <a:pPr indent="0" marL="0">
              <a:buNone/>
            </a:pPr>
            <a:r>
              <a:rPr lang="en-US" sz="1250" b="1" dirty="0">
                <a:solidFill>
                  <a:srgbClr val="FFFFFF"/>
                </a:solidFill>
                <a:latin typeface="Calibri" pitchFamily="34" charset="0"/>
                <a:ea typeface="Calibri" pitchFamily="34" charset="-122"/>
                <a:cs typeface="Calibri" pitchFamily="34" charset="-120"/>
              </a:rPr>
              <a:t>autonomy</a:t>
            </a:r>
            <a:pPr indent="0" marL="0">
              <a:buNone/>
            </a:pPr>
            <a:r>
              <a:rPr lang="en-US" sz="1250" b="1" dirty="0">
                <a:solidFill>
                  <a:srgbClr val="C8862A"/>
                </a:solidFill>
                <a:latin typeface="Calibri" pitchFamily="34" charset="0"/>
                <a:ea typeface="Calibri" pitchFamily="34" charset="-122"/>
                <a:cs typeface="Calibri" pitchFamily="34" charset="-120"/>
              </a:rPr>
              <a:t>  →  </a:t>
            </a:r>
            <a:pPr indent="0" marL="0">
              <a:buNone/>
            </a:pPr>
            <a:r>
              <a:rPr lang="en-US" sz="1250" b="1" dirty="0">
                <a:solidFill>
                  <a:srgbClr val="FFFFFF"/>
                </a:solidFill>
                <a:latin typeface="Calibri" pitchFamily="34" charset="0"/>
                <a:ea typeface="Calibri" pitchFamily="34" charset="-122"/>
                <a:cs typeface="Calibri" pitchFamily="34" charset="-120"/>
              </a:rPr>
              <a:t>coverage</a:t>
            </a:r>
            <a:pPr indent="0" marL="0">
              <a:buNone/>
            </a:pPr>
            <a:r>
              <a:rPr lang="en-US" sz="1250" b="1" dirty="0">
                <a:solidFill>
                  <a:srgbClr val="C8862A"/>
                </a:solidFill>
                <a:latin typeface="Calibri" pitchFamily="34" charset="0"/>
                <a:ea typeface="Calibri" pitchFamily="34" charset="-122"/>
                <a:cs typeface="Calibri" pitchFamily="34" charset="-120"/>
              </a:rPr>
              <a:t>  →  </a:t>
            </a:r>
            <a:pPr indent="0" marL="0">
              <a:buNone/>
            </a:pPr>
            <a:r>
              <a:rPr lang="en-US" sz="1250" b="1" dirty="0">
                <a:solidFill>
                  <a:srgbClr val="FFFFFF"/>
                </a:solidFill>
                <a:latin typeface="Calibri" pitchFamily="34" charset="0"/>
                <a:ea typeface="Calibri" pitchFamily="34" charset="-122"/>
                <a:cs typeface="Calibri" pitchFamily="34" charset="-120"/>
              </a:rPr>
              <a:t>epistemics</a:t>
            </a:r>
            <a:endParaRPr lang="en-US" sz="1250" dirty="0"/>
          </a:p>
        </p:txBody>
      </p:sp>
      <p:sp>
        <p:nvSpPr>
          <p:cNvPr id="26" name="Shape 24"/>
          <p:cNvSpPr/>
          <p:nvPr/>
        </p:nvSpPr>
        <p:spPr>
          <a:xfrm>
            <a:off x="731520" y="6053328"/>
            <a:ext cx="310896" cy="237744"/>
          </a:xfrm>
          <a:prstGeom prst="roundRect">
            <a:avLst>
              <a:gd name="adj" fmla="val 15385"/>
            </a:avLst>
          </a:prstGeom>
          <a:solidFill>
            <a:srgbClr val="1E2761"/>
          </a:solidFill>
          <a:ln w="12700">
            <a:solidFill>
              <a:srgbClr val="1E2761"/>
            </a:solidFill>
            <a:prstDash val="solid"/>
          </a:ln>
        </p:spPr>
      </p:sp>
      <p:sp>
        <p:nvSpPr>
          <p:cNvPr id="27" name="Text 25"/>
          <p:cNvSpPr/>
          <p:nvPr/>
        </p:nvSpPr>
        <p:spPr>
          <a:xfrm>
            <a:off x="1115568" y="6035040"/>
            <a:ext cx="1188720" cy="274320"/>
          </a:xfrm>
          <a:prstGeom prst="rect">
            <a:avLst/>
          </a:prstGeom>
          <a:noFill/>
          <a:ln/>
        </p:spPr>
        <p:txBody>
          <a:bodyPr wrap="square" lIns="0" tIns="0" rIns="0" bIns="0" rtlCol="0" anchor="ctr"/>
          <a:lstStyle/>
          <a:p>
            <a:pPr indent="0" marL="0">
              <a:buNone/>
            </a:pPr>
            <a:r>
              <a:rPr lang="en-US" sz="1000" dirty="0">
                <a:solidFill>
                  <a:srgbClr val="9DAAD0"/>
                </a:solidFill>
                <a:latin typeface="Calibri" pitchFamily="34" charset="0"/>
                <a:ea typeface="Calibri" pitchFamily="34" charset="-122"/>
                <a:cs typeface="Calibri" pitchFamily="34" charset="-120"/>
              </a:rPr>
              <a:t>Agent</a:t>
            </a:r>
            <a:endParaRPr lang="en-US" sz="1000" dirty="0"/>
          </a:p>
        </p:txBody>
      </p:sp>
      <p:sp>
        <p:nvSpPr>
          <p:cNvPr id="28" name="Shape 26"/>
          <p:cNvSpPr/>
          <p:nvPr/>
        </p:nvSpPr>
        <p:spPr>
          <a:xfrm>
            <a:off x="2304288" y="6053328"/>
            <a:ext cx="310896" cy="237744"/>
          </a:xfrm>
          <a:prstGeom prst="roundRect">
            <a:avLst>
              <a:gd name="adj" fmla="val 15385"/>
            </a:avLst>
          </a:prstGeom>
          <a:solidFill>
            <a:srgbClr val="CADCFC"/>
          </a:solidFill>
          <a:ln w="12700">
            <a:solidFill>
              <a:srgbClr val="CADCFC"/>
            </a:solidFill>
            <a:prstDash val="solid"/>
          </a:ln>
        </p:spPr>
      </p:sp>
      <p:sp>
        <p:nvSpPr>
          <p:cNvPr id="29" name="Text 27"/>
          <p:cNvSpPr/>
          <p:nvPr/>
        </p:nvSpPr>
        <p:spPr>
          <a:xfrm>
            <a:off x="2688336" y="6035040"/>
            <a:ext cx="1188720" cy="274320"/>
          </a:xfrm>
          <a:prstGeom prst="rect">
            <a:avLst/>
          </a:prstGeom>
          <a:noFill/>
          <a:ln/>
        </p:spPr>
        <p:txBody>
          <a:bodyPr wrap="square" lIns="0" tIns="0" rIns="0" bIns="0" rtlCol="0" anchor="ctr"/>
          <a:lstStyle/>
          <a:p>
            <a:pPr indent="0" marL="0">
              <a:buNone/>
            </a:pPr>
            <a:r>
              <a:rPr lang="en-US" sz="1000" dirty="0">
                <a:solidFill>
                  <a:srgbClr val="9DAAD0"/>
                </a:solidFill>
                <a:latin typeface="Calibri" pitchFamily="34" charset="0"/>
                <a:ea typeface="Calibri" pitchFamily="34" charset="-122"/>
                <a:cs typeface="Calibri" pitchFamily="34" charset="-120"/>
              </a:rPr>
              <a:t>Data source</a:t>
            </a:r>
            <a:endParaRPr lang="en-US" sz="1000" dirty="0"/>
          </a:p>
        </p:txBody>
      </p:sp>
      <p:sp>
        <p:nvSpPr>
          <p:cNvPr id="30" name="Shape 28"/>
          <p:cNvSpPr/>
          <p:nvPr/>
        </p:nvSpPr>
        <p:spPr>
          <a:xfrm>
            <a:off x="3877056" y="6053328"/>
            <a:ext cx="310896" cy="237744"/>
          </a:xfrm>
          <a:prstGeom prst="roundRect">
            <a:avLst>
              <a:gd name="adj" fmla="val 15385"/>
            </a:avLst>
          </a:prstGeom>
          <a:solidFill>
            <a:srgbClr val="4F6BA8"/>
          </a:solidFill>
          <a:ln w="12700">
            <a:solidFill>
              <a:srgbClr val="4F6BA8"/>
            </a:solidFill>
            <a:prstDash val="solid"/>
          </a:ln>
        </p:spPr>
      </p:sp>
      <p:sp>
        <p:nvSpPr>
          <p:cNvPr id="31" name="Text 29"/>
          <p:cNvSpPr/>
          <p:nvPr/>
        </p:nvSpPr>
        <p:spPr>
          <a:xfrm>
            <a:off x="4261104" y="6035040"/>
            <a:ext cx="1188720" cy="274320"/>
          </a:xfrm>
          <a:prstGeom prst="rect">
            <a:avLst/>
          </a:prstGeom>
          <a:noFill/>
          <a:ln/>
        </p:spPr>
        <p:txBody>
          <a:bodyPr wrap="square" lIns="0" tIns="0" rIns="0" bIns="0" rtlCol="0" anchor="ctr"/>
          <a:lstStyle/>
          <a:p>
            <a:pPr indent="0" marL="0">
              <a:buNone/>
            </a:pPr>
            <a:r>
              <a:rPr lang="en-US" sz="1000" dirty="0">
                <a:solidFill>
                  <a:srgbClr val="9DAAD0"/>
                </a:solidFill>
                <a:latin typeface="Calibri" pitchFamily="34" charset="0"/>
                <a:ea typeface="Calibri" pitchFamily="34" charset="-122"/>
                <a:cs typeface="Calibri" pitchFamily="34" charset="-120"/>
              </a:rPr>
              <a:t>Tool</a:t>
            </a:r>
            <a:endParaRPr lang="en-US" sz="1000" dirty="0"/>
          </a:p>
        </p:txBody>
      </p:sp>
      <p:sp>
        <p:nvSpPr>
          <p:cNvPr id="32" name="Shape 30"/>
          <p:cNvSpPr/>
          <p:nvPr/>
        </p:nvSpPr>
        <p:spPr>
          <a:xfrm>
            <a:off x="5449824" y="6053328"/>
            <a:ext cx="310896" cy="237744"/>
          </a:xfrm>
          <a:prstGeom prst="roundRect">
            <a:avLst>
              <a:gd name="adj" fmla="val 15385"/>
            </a:avLst>
          </a:prstGeom>
          <a:solidFill>
            <a:srgbClr val="EDEFF5"/>
          </a:solidFill>
          <a:ln w="12700">
            <a:solidFill>
              <a:srgbClr val="6E7BA8"/>
            </a:solidFill>
            <a:prstDash val="dash"/>
          </a:ln>
        </p:spPr>
      </p:sp>
      <p:sp>
        <p:nvSpPr>
          <p:cNvPr id="33" name="Text 31"/>
          <p:cNvSpPr/>
          <p:nvPr/>
        </p:nvSpPr>
        <p:spPr>
          <a:xfrm>
            <a:off x="5833872" y="6035040"/>
            <a:ext cx="1188720" cy="274320"/>
          </a:xfrm>
          <a:prstGeom prst="rect">
            <a:avLst/>
          </a:prstGeom>
          <a:noFill/>
          <a:ln/>
        </p:spPr>
        <p:txBody>
          <a:bodyPr wrap="square" lIns="0" tIns="0" rIns="0" bIns="0" rtlCol="0" anchor="ctr"/>
          <a:lstStyle/>
          <a:p>
            <a:pPr indent="0" marL="0">
              <a:buNone/>
            </a:pPr>
            <a:r>
              <a:rPr lang="en-US" sz="1000" dirty="0">
                <a:solidFill>
                  <a:srgbClr val="9DAAD0"/>
                </a:solidFill>
                <a:latin typeface="Calibri" pitchFamily="34" charset="0"/>
                <a:ea typeface="Calibri" pitchFamily="34" charset="-122"/>
                <a:cs typeface="Calibri" pitchFamily="34" charset="-120"/>
              </a:rPr>
              <a:t>Skill set</a:t>
            </a:r>
            <a:endParaRPr lang="en-US" sz="1000" dirty="0"/>
          </a:p>
        </p:txBody>
      </p:sp>
      <p:sp>
        <p:nvSpPr>
          <p:cNvPr id="34" name="Shape 32"/>
          <p:cNvSpPr/>
          <p:nvPr/>
        </p:nvSpPr>
        <p:spPr>
          <a:xfrm>
            <a:off x="7022592" y="6053328"/>
            <a:ext cx="310896" cy="237744"/>
          </a:xfrm>
          <a:prstGeom prst="roundRect">
            <a:avLst>
              <a:gd name="adj" fmla="val 15385"/>
            </a:avLst>
          </a:prstGeom>
          <a:solidFill>
            <a:srgbClr val="C8862A"/>
          </a:solidFill>
          <a:ln w="12700">
            <a:solidFill>
              <a:srgbClr val="C8862A"/>
            </a:solidFill>
            <a:prstDash val="solid"/>
          </a:ln>
        </p:spPr>
      </p:sp>
      <p:sp>
        <p:nvSpPr>
          <p:cNvPr id="35" name="Text 33"/>
          <p:cNvSpPr/>
          <p:nvPr/>
        </p:nvSpPr>
        <p:spPr>
          <a:xfrm>
            <a:off x="7406640" y="6035040"/>
            <a:ext cx="1188720" cy="274320"/>
          </a:xfrm>
          <a:prstGeom prst="rect">
            <a:avLst/>
          </a:prstGeom>
          <a:noFill/>
          <a:ln/>
        </p:spPr>
        <p:txBody>
          <a:bodyPr wrap="square" lIns="0" tIns="0" rIns="0" bIns="0" rtlCol="0" anchor="ctr"/>
          <a:lstStyle/>
          <a:p>
            <a:pPr indent="0" marL="0">
              <a:buNone/>
            </a:pPr>
            <a:r>
              <a:rPr lang="en-US" sz="1000" dirty="0">
                <a:solidFill>
                  <a:srgbClr val="9DAAD0"/>
                </a:solidFill>
                <a:latin typeface="Calibri" pitchFamily="34" charset="0"/>
                <a:ea typeface="Calibri" pitchFamily="34" charset="-122"/>
                <a:cs typeface="Calibri" pitchFamily="34" charset="-120"/>
              </a:rPr>
              <a:t>Human</a:t>
            </a:r>
            <a:endParaRPr lang="en-US" sz="1000" dirty="0"/>
          </a:p>
        </p:txBody>
      </p:sp>
      <p:sp>
        <p:nvSpPr>
          <p:cNvPr id="36" name="Text 34"/>
          <p:cNvSpPr/>
          <p:nvPr/>
        </p:nvSpPr>
        <p:spPr>
          <a:xfrm>
            <a:off x="731520" y="6419088"/>
            <a:ext cx="8229600" cy="274320"/>
          </a:xfrm>
          <a:prstGeom prst="rect">
            <a:avLst/>
          </a:prstGeom>
          <a:noFill/>
          <a:ln/>
        </p:spPr>
        <p:txBody>
          <a:bodyPr wrap="square" lIns="0" tIns="0" rIns="0" bIns="0" rtlCol="0" anchor="ctr"/>
          <a:lstStyle/>
          <a:p>
            <a:pPr indent="0" marL="0">
              <a:buNone/>
            </a:pPr>
            <a:r>
              <a:rPr lang="en-US" sz="850" i="1" dirty="0">
                <a:solidFill>
                  <a:srgbClr val="6E7BA8"/>
                </a:solidFill>
                <a:latin typeface="Calibri" pitchFamily="34" charset="0"/>
                <a:ea typeface="Calibri" pitchFamily="34" charset="-122"/>
                <a:cs typeface="Calibri" pitchFamily="34" charset="-120"/>
              </a:rPr>
              <a:t>Agent and data-source names follow BB Biotech's published agent landscape (Bellevue Asset Management AG).</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274320"/>
            <a:ext cx="9692640" cy="65836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Stage 1 — The simple agent</a:t>
            </a:r>
            <a:endParaRPr lang="en-US" sz="3000" dirty="0"/>
          </a:p>
        </p:txBody>
      </p:sp>
      <p:sp>
        <p:nvSpPr>
          <p:cNvPr id="3" name="Shape 1"/>
          <p:cNvSpPr/>
          <p:nvPr/>
        </p:nvSpPr>
        <p:spPr>
          <a:xfrm>
            <a:off x="11109960" y="347472"/>
            <a:ext cx="548640" cy="548640"/>
          </a:xfrm>
          <a:prstGeom prst="ellipse">
            <a:avLst/>
          </a:prstGeom>
          <a:solidFill>
            <a:srgbClr val="1E2761"/>
          </a:solidFill>
          <a:ln/>
        </p:spPr>
      </p:sp>
      <p:sp>
        <p:nvSpPr>
          <p:cNvPr id="4" name="Text 2"/>
          <p:cNvSpPr/>
          <p:nvPr/>
        </p:nvSpPr>
        <p:spPr>
          <a:xfrm>
            <a:off x="11109960" y="347472"/>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5" name="Shape 3"/>
          <p:cNvSpPr/>
          <p:nvPr/>
        </p:nvSpPr>
        <p:spPr>
          <a:xfrm>
            <a:off x="640080" y="2011680"/>
            <a:ext cx="1371600" cy="685800"/>
          </a:xfrm>
          <a:prstGeom prst="roundRect">
            <a:avLst>
              <a:gd name="adj" fmla="val 8000"/>
            </a:avLst>
          </a:prstGeom>
          <a:solidFill>
            <a:srgbClr val="CADCFC"/>
          </a:solidFill>
          <a:ln w="12700">
            <a:solidFill>
              <a:srgbClr val="CADCFC"/>
            </a:solidFill>
            <a:prstDash val="solid"/>
          </a:ln>
          <a:effectLst>
            <a:outerShdw sx="100000" sy="100000" kx="0" ky="0" algn="bl" rotWithShape="0" blurRad="50800" dist="12700" dir="5400000">
              <a:srgbClr val="000000">
                <a:alpha val="10000"/>
              </a:srgbClr>
            </a:outerShdw>
          </a:effectLst>
        </p:spPr>
      </p:sp>
      <p:sp>
        <p:nvSpPr>
          <p:cNvPr id="6" name="Text 4"/>
          <p:cNvSpPr/>
          <p:nvPr/>
        </p:nvSpPr>
        <p:spPr>
          <a:xfrm>
            <a:off x="640080" y="2011680"/>
            <a:ext cx="1371600" cy="68580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Input</a:t>
            </a:r>
            <a:endParaRPr lang="en-US" sz="1100" dirty="0"/>
          </a:p>
          <a:p>
            <a:pPr algn="ctr" indent="0" marL="0">
              <a:buNone/>
            </a:pPr>
            <a:r>
              <a:rPr lang="en-US" sz="900" i="1" dirty="0">
                <a:solidFill>
                  <a:srgbClr val="1E2761"/>
                </a:solidFill>
                <a:latin typeface="Calibri" pitchFamily="34" charset="0"/>
                <a:ea typeface="Calibri" pitchFamily="34" charset="-122"/>
                <a:cs typeface="Calibri" pitchFamily="34" charset="-120"/>
              </a:rPr>
              <a:t>analyst query</a:t>
            </a:r>
            <a:endParaRPr lang="en-US" sz="1100" dirty="0"/>
          </a:p>
        </p:txBody>
      </p:sp>
      <p:sp>
        <p:nvSpPr>
          <p:cNvPr id="7" name="Shape 5"/>
          <p:cNvSpPr/>
          <p:nvPr/>
        </p:nvSpPr>
        <p:spPr>
          <a:xfrm>
            <a:off x="2103120" y="2354580"/>
            <a:ext cx="502920" cy="0"/>
          </a:xfrm>
          <a:prstGeom prst="line">
            <a:avLst/>
          </a:prstGeom>
          <a:noFill/>
          <a:ln w="19050">
            <a:solidFill>
              <a:srgbClr val="1E2761"/>
            </a:solidFill>
            <a:prstDash val="solid"/>
            <a:headEnd type="none"/>
            <a:tailEnd type="triangle"/>
          </a:ln>
        </p:spPr>
      </p:sp>
      <p:sp>
        <p:nvSpPr>
          <p:cNvPr id="8" name="Shape 6"/>
          <p:cNvSpPr/>
          <p:nvPr/>
        </p:nvSpPr>
        <p:spPr>
          <a:xfrm>
            <a:off x="2743200" y="1965960"/>
            <a:ext cx="1737360" cy="777240"/>
          </a:xfrm>
          <a:prstGeom prst="roundRect">
            <a:avLst>
              <a:gd name="adj" fmla="val 7059"/>
            </a:avLst>
          </a:prstGeom>
          <a:solidFill>
            <a:srgbClr val="1E2761"/>
          </a:solidFill>
          <a:ln w="12700">
            <a:solidFill>
              <a:srgbClr val="1E2761"/>
            </a:solidFill>
            <a:prstDash val="solid"/>
          </a:ln>
          <a:effectLst>
            <a:outerShdw sx="100000" sy="100000" kx="0" ky="0" algn="bl" rotWithShape="0" blurRad="50800" dist="12700" dir="5400000">
              <a:srgbClr val="000000">
                <a:alpha val="10000"/>
              </a:srgbClr>
            </a:outerShdw>
          </a:effectLst>
        </p:spPr>
      </p:sp>
      <p:sp>
        <p:nvSpPr>
          <p:cNvPr id="9" name="Text 7"/>
          <p:cNvSpPr/>
          <p:nvPr/>
        </p:nvSpPr>
        <p:spPr>
          <a:xfrm>
            <a:off x="2743200" y="1965960"/>
            <a:ext cx="1737360" cy="77724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Investment Case Agent</a:t>
            </a:r>
            <a:endParaRPr lang="en-US" sz="1000" dirty="0"/>
          </a:p>
        </p:txBody>
      </p:sp>
      <p:sp>
        <p:nvSpPr>
          <p:cNvPr id="10" name="Shape 8"/>
          <p:cNvSpPr/>
          <p:nvPr/>
        </p:nvSpPr>
        <p:spPr>
          <a:xfrm>
            <a:off x="4572000" y="2354580"/>
            <a:ext cx="502920" cy="0"/>
          </a:xfrm>
          <a:prstGeom prst="line">
            <a:avLst/>
          </a:prstGeom>
          <a:noFill/>
          <a:ln w="19050">
            <a:solidFill>
              <a:srgbClr val="1E2761"/>
            </a:solidFill>
            <a:prstDash val="solid"/>
            <a:headEnd type="none"/>
            <a:tailEnd type="triangle"/>
          </a:ln>
        </p:spPr>
      </p:sp>
      <p:sp>
        <p:nvSpPr>
          <p:cNvPr id="11" name="Shape 9"/>
          <p:cNvSpPr/>
          <p:nvPr/>
        </p:nvSpPr>
        <p:spPr>
          <a:xfrm>
            <a:off x="5212080" y="2011680"/>
            <a:ext cx="1371600" cy="685800"/>
          </a:xfrm>
          <a:prstGeom prst="roundRect">
            <a:avLst>
              <a:gd name="adj" fmla="val 8000"/>
            </a:avLst>
          </a:prstGeom>
          <a:solidFill>
            <a:srgbClr val="CADCFC"/>
          </a:solidFill>
          <a:ln w="12700">
            <a:solidFill>
              <a:srgbClr val="CADCFC"/>
            </a:solidFill>
            <a:prstDash val="solid"/>
          </a:ln>
          <a:effectLst>
            <a:outerShdw sx="100000" sy="100000" kx="0" ky="0" algn="bl" rotWithShape="0" blurRad="50800" dist="12700" dir="5400000">
              <a:srgbClr val="000000">
                <a:alpha val="10000"/>
              </a:srgbClr>
            </a:outerShdw>
          </a:effectLst>
        </p:spPr>
      </p:sp>
      <p:sp>
        <p:nvSpPr>
          <p:cNvPr id="12" name="Text 10"/>
          <p:cNvSpPr/>
          <p:nvPr/>
        </p:nvSpPr>
        <p:spPr>
          <a:xfrm>
            <a:off x="5212080" y="2011680"/>
            <a:ext cx="1371600" cy="685800"/>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Output</a:t>
            </a:r>
            <a:endParaRPr lang="en-US" sz="1100" dirty="0"/>
          </a:p>
          <a:p>
            <a:pPr algn="ctr" indent="0" marL="0">
              <a:buNone/>
            </a:pPr>
            <a:r>
              <a:rPr lang="en-US" sz="900" i="1" dirty="0">
                <a:solidFill>
                  <a:srgbClr val="1E2761"/>
                </a:solidFill>
                <a:latin typeface="Calibri" pitchFamily="34" charset="0"/>
                <a:ea typeface="Calibri" pitchFamily="34" charset="-122"/>
                <a:cs typeface="Calibri" pitchFamily="34" charset="-120"/>
              </a:rPr>
              <a:t>answer</a:t>
            </a:r>
            <a:endParaRPr lang="en-US" sz="1100" dirty="0"/>
          </a:p>
        </p:txBody>
      </p:sp>
      <p:sp>
        <p:nvSpPr>
          <p:cNvPr id="13" name="Shape 11"/>
          <p:cNvSpPr/>
          <p:nvPr/>
        </p:nvSpPr>
        <p:spPr>
          <a:xfrm>
            <a:off x="3611880" y="2743200"/>
            <a:ext cx="0" cy="777240"/>
          </a:xfrm>
          <a:prstGeom prst="line">
            <a:avLst/>
          </a:prstGeom>
          <a:noFill/>
          <a:ln w="12700">
            <a:solidFill>
              <a:srgbClr val="1E2761"/>
            </a:solidFill>
            <a:prstDash val="dash"/>
          </a:ln>
        </p:spPr>
      </p:sp>
      <p:sp>
        <p:nvSpPr>
          <p:cNvPr id="14" name="Shape 12"/>
          <p:cNvSpPr/>
          <p:nvPr/>
        </p:nvSpPr>
        <p:spPr>
          <a:xfrm>
            <a:off x="2194560" y="3520440"/>
            <a:ext cx="2834640" cy="0"/>
          </a:xfrm>
          <a:prstGeom prst="line">
            <a:avLst/>
          </a:prstGeom>
          <a:noFill/>
          <a:ln w="12700">
            <a:solidFill>
              <a:srgbClr val="1E2761"/>
            </a:solidFill>
            <a:prstDash val="dash"/>
          </a:ln>
        </p:spPr>
      </p:sp>
      <p:sp>
        <p:nvSpPr>
          <p:cNvPr id="15" name="Shape 13"/>
          <p:cNvSpPr/>
          <p:nvPr/>
        </p:nvSpPr>
        <p:spPr>
          <a:xfrm>
            <a:off x="2194560" y="3520440"/>
            <a:ext cx="0" cy="411480"/>
          </a:xfrm>
          <a:prstGeom prst="line">
            <a:avLst/>
          </a:prstGeom>
          <a:noFill/>
          <a:ln w="12700">
            <a:solidFill>
              <a:srgbClr val="1E2761"/>
            </a:solidFill>
            <a:prstDash val="dash"/>
          </a:ln>
        </p:spPr>
      </p:sp>
      <p:sp>
        <p:nvSpPr>
          <p:cNvPr id="16" name="Shape 14"/>
          <p:cNvSpPr/>
          <p:nvPr/>
        </p:nvSpPr>
        <p:spPr>
          <a:xfrm>
            <a:off x="5029200" y="3520440"/>
            <a:ext cx="0" cy="411480"/>
          </a:xfrm>
          <a:prstGeom prst="line">
            <a:avLst/>
          </a:prstGeom>
          <a:noFill/>
          <a:ln w="12700">
            <a:solidFill>
              <a:srgbClr val="1E2761"/>
            </a:solidFill>
            <a:prstDash val="dash"/>
          </a:ln>
        </p:spPr>
      </p:sp>
      <p:sp>
        <p:nvSpPr>
          <p:cNvPr id="17" name="Shape 15"/>
          <p:cNvSpPr/>
          <p:nvPr/>
        </p:nvSpPr>
        <p:spPr>
          <a:xfrm>
            <a:off x="1463040" y="4069080"/>
            <a:ext cx="1463040" cy="914400"/>
          </a:xfrm>
          <a:prstGeom prst="roundRect">
            <a:avLst>
              <a:gd name="adj" fmla="val 6000"/>
            </a:avLst>
          </a:prstGeom>
          <a:solidFill>
            <a:srgbClr val="CADCFC"/>
          </a:solidFill>
          <a:ln w="12700">
            <a:solidFill>
              <a:srgbClr val="CADCFC"/>
            </a:solidFill>
            <a:prstDash val="solid"/>
          </a:ln>
          <a:effectLst>
            <a:outerShdw sx="100000" sy="100000" kx="0" ky="0" algn="bl" rotWithShape="0" blurRad="50800" dist="12700" dir="5400000">
              <a:srgbClr val="000000">
                <a:alpha val="10000"/>
              </a:srgbClr>
            </a:outerShdw>
          </a:effectLst>
        </p:spPr>
      </p:sp>
      <p:sp>
        <p:nvSpPr>
          <p:cNvPr id="18" name="Text 16"/>
          <p:cNvSpPr/>
          <p:nvPr/>
        </p:nvSpPr>
        <p:spPr>
          <a:xfrm>
            <a:off x="1463040" y="4069080"/>
            <a:ext cx="1463040" cy="914400"/>
          </a:xfrm>
          <a:prstGeom prst="rect">
            <a:avLst/>
          </a:prstGeom>
          <a:noFill/>
          <a:ln/>
        </p:spPr>
        <p:txBody>
          <a:bodyPr wrap="square" lIns="0" tIns="0" rIns="0" bIns="0" rtlCol="0" anchor="ctr"/>
          <a:lstStyle/>
          <a:p>
            <a:pPr algn="ctr" indent="0" marL="0">
              <a:buNone/>
            </a:pPr>
            <a:r>
              <a:rPr lang="en-US" sz="900" b="1" dirty="0">
                <a:solidFill>
                  <a:srgbClr val="1E2761"/>
                </a:solidFill>
                <a:latin typeface="Calibri" pitchFamily="34" charset="0"/>
                <a:ea typeface="Calibri" pitchFamily="34" charset="-122"/>
                <a:cs typeface="Calibri" pitchFamily="34" charset="-120"/>
              </a:rPr>
              <a:t>DATA SOURCES</a:t>
            </a:r>
            <a:endParaRPr lang="en-US" sz="900" dirty="0"/>
          </a:p>
          <a:p>
            <a:pPr algn="ctr" indent="0" marL="0">
              <a:buNone/>
            </a:pPr>
            <a:r>
              <a:rPr lang="en-US" sz="700" i="1" dirty="0">
                <a:solidFill>
                  <a:srgbClr val="1E2761"/>
                </a:solidFill>
                <a:latin typeface="Calibri" pitchFamily="34" charset="0"/>
                <a:ea typeface="Calibri" pitchFamily="34" charset="-122"/>
                <a:cs typeface="Calibri" pitchFamily="34" charset="-120"/>
              </a:rPr>
              <a:t>Insurance Claims Data</a:t>
            </a:r>
            <a:endParaRPr lang="en-US" sz="900" dirty="0"/>
          </a:p>
        </p:txBody>
      </p:sp>
      <p:sp>
        <p:nvSpPr>
          <p:cNvPr id="19" name="Shape 17"/>
          <p:cNvSpPr/>
          <p:nvPr/>
        </p:nvSpPr>
        <p:spPr>
          <a:xfrm>
            <a:off x="4297680" y="4069080"/>
            <a:ext cx="1463040" cy="914400"/>
          </a:xfrm>
          <a:prstGeom prst="roundRect">
            <a:avLst>
              <a:gd name="adj" fmla="val 6000"/>
            </a:avLst>
          </a:prstGeom>
          <a:solidFill>
            <a:srgbClr val="4F6BA8"/>
          </a:solidFill>
          <a:ln w="12700">
            <a:solidFill>
              <a:srgbClr val="4F6BA8"/>
            </a:solidFill>
            <a:prstDash val="solid"/>
          </a:ln>
          <a:effectLst>
            <a:outerShdw sx="100000" sy="100000" kx="0" ky="0" algn="bl" rotWithShape="0" blurRad="50800" dist="12700" dir="5400000">
              <a:srgbClr val="000000">
                <a:alpha val="10000"/>
              </a:srgbClr>
            </a:outerShdw>
          </a:effectLst>
        </p:spPr>
      </p:sp>
      <p:sp>
        <p:nvSpPr>
          <p:cNvPr id="20" name="Text 18"/>
          <p:cNvSpPr/>
          <p:nvPr/>
        </p:nvSpPr>
        <p:spPr>
          <a:xfrm>
            <a:off x="4297680" y="4069080"/>
            <a:ext cx="1463040" cy="9144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TOOLS</a:t>
            </a:r>
            <a:endParaRPr lang="en-US" sz="1000" dirty="0"/>
          </a:p>
          <a:p>
            <a:pPr algn="ctr" indent="0" marL="0">
              <a:buNone/>
            </a:pPr>
            <a:r>
              <a:rPr lang="en-US" sz="800" i="1" dirty="0">
                <a:solidFill>
                  <a:srgbClr val="FFFFFF"/>
                </a:solidFill>
                <a:latin typeface="Calibri" pitchFamily="34" charset="0"/>
                <a:ea typeface="Calibri" pitchFamily="34" charset="-122"/>
                <a:cs typeface="Calibri" pitchFamily="34" charset="-120"/>
              </a:rPr>
              <a:t>TAM estimate</a:t>
            </a:r>
            <a:endParaRPr lang="en-US" sz="1000" dirty="0"/>
          </a:p>
        </p:txBody>
      </p:sp>
      <p:sp>
        <p:nvSpPr>
          <p:cNvPr id="21" name="Shape 19"/>
          <p:cNvSpPr/>
          <p:nvPr/>
        </p:nvSpPr>
        <p:spPr>
          <a:xfrm>
            <a:off x="8092440" y="1188720"/>
            <a:ext cx="3611880" cy="2148840"/>
          </a:xfrm>
          <a:prstGeom prst="roundRect">
            <a:avLst>
              <a:gd name="adj" fmla="val 2553"/>
            </a:avLst>
          </a:prstGeom>
          <a:solidFill>
            <a:srgbClr val="F4F6FA"/>
          </a:solidFill>
          <a:ln w="12700">
            <a:solidFill>
              <a:srgbClr val="DDE3EE"/>
            </a:solidFill>
            <a:prstDash val="solid"/>
          </a:ln>
        </p:spPr>
      </p:sp>
      <p:sp>
        <p:nvSpPr>
          <p:cNvPr id="22" name="Text 20"/>
          <p:cNvSpPr/>
          <p:nvPr/>
        </p:nvSpPr>
        <p:spPr>
          <a:xfrm>
            <a:off x="8293608" y="1307592"/>
            <a:ext cx="3209544" cy="274320"/>
          </a:xfrm>
          <a:prstGeom prst="rect">
            <a:avLst/>
          </a:prstGeom>
          <a:noFill/>
          <a:ln/>
        </p:spPr>
        <p:txBody>
          <a:bodyPr wrap="square" lIns="0" tIns="0" rIns="0" bIns="0" rtlCol="0" anchor="ctr"/>
          <a:lstStyle/>
          <a:p>
            <a:pPr indent="0" marL="0">
              <a:buNone/>
            </a:pPr>
            <a:r>
              <a:rPr lang="en-US" sz="1200" b="1" spc="120" kern="0" dirty="0">
                <a:solidFill>
                  <a:srgbClr val="1E2761"/>
                </a:solidFill>
                <a:latin typeface="Calibri" pitchFamily="34" charset="0"/>
                <a:ea typeface="Calibri" pitchFamily="34" charset="-122"/>
                <a:cs typeface="Calibri" pitchFamily="34" charset="-120"/>
              </a:rPr>
              <a:t>BENEFITS</a:t>
            </a:r>
            <a:endParaRPr lang="en-US" sz="1200" dirty="0"/>
          </a:p>
        </p:txBody>
      </p:sp>
      <p:sp>
        <p:nvSpPr>
          <p:cNvPr id="23" name="Text 21"/>
          <p:cNvSpPr/>
          <p:nvPr/>
        </p:nvSpPr>
        <p:spPr>
          <a:xfrm>
            <a:off x="8293608" y="1627632"/>
            <a:ext cx="3209544" cy="16002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Shippable in days; one clear owner</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Every step inspectable end-to-end</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Deterministic tool call, auditable output</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Cheap to evaluate — one task, one answer</a:t>
            </a:r>
            <a:endParaRPr lang="en-US" sz="1050" dirty="0"/>
          </a:p>
        </p:txBody>
      </p:sp>
      <p:sp>
        <p:nvSpPr>
          <p:cNvPr id="24" name="Shape 22"/>
          <p:cNvSpPr/>
          <p:nvPr/>
        </p:nvSpPr>
        <p:spPr>
          <a:xfrm>
            <a:off x="8092440" y="3520440"/>
            <a:ext cx="3611880" cy="2286000"/>
          </a:xfrm>
          <a:prstGeom prst="roundRect">
            <a:avLst>
              <a:gd name="adj" fmla="val 2400"/>
            </a:avLst>
          </a:prstGeom>
          <a:solidFill>
            <a:srgbClr val="FFFFFF"/>
          </a:solidFill>
          <a:ln w="15875">
            <a:solidFill>
              <a:srgbClr val="C8862A"/>
            </a:solidFill>
            <a:prstDash val="solid"/>
          </a:ln>
        </p:spPr>
      </p:sp>
      <p:sp>
        <p:nvSpPr>
          <p:cNvPr id="25" name="Text 23"/>
          <p:cNvSpPr/>
          <p:nvPr/>
        </p:nvSpPr>
        <p:spPr>
          <a:xfrm>
            <a:off x="8293608" y="3639312"/>
            <a:ext cx="3209544" cy="274320"/>
          </a:xfrm>
          <a:prstGeom prst="rect">
            <a:avLst/>
          </a:prstGeom>
          <a:noFill/>
          <a:ln/>
        </p:spPr>
        <p:txBody>
          <a:bodyPr wrap="square" lIns="0" tIns="0" rIns="0" bIns="0" rtlCol="0" anchor="ctr"/>
          <a:lstStyle/>
          <a:p>
            <a:pPr indent="0" marL="0">
              <a:buNone/>
            </a:pPr>
            <a:r>
              <a:rPr lang="en-US" sz="1200" b="1" spc="120" kern="0" dirty="0">
                <a:solidFill>
                  <a:srgbClr val="C8862A"/>
                </a:solidFill>
                <a:latin typeface="Calibri" pitchFamily="34" charset="0"/>
                <a:ea typeface="Calibri" pitchFamily="34" charset="-122"/>
                <a:cs typeface="Calibri" pitchFamily="34" charset="-120"/>
              </a:rPr>
              <a:t>LIMITATIONS</a:t>
            </a:r>
            <a:endParaRPr lang="en-US" sz="1200" dirty="0"/>
          </a:p>
        </p:txBody>
      </p:sp>
      <p:sp>
        <p:nvSpPr>
          <p:cNvPr id="26" name="Text 24"/>
          <p:cNvSpPr/>
          <p:nvPr/>
        </p:nvSpPr>
        <p:spPr>
          <a:xfrm>
            <a:off x="8293608" y="3959352"/>
            <a:ext cx="3209544" cy="17373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One domain only: claims</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Analyst must know what to ask</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No cross-source synthesis</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Scales by cloning prompts, not capability</a:t>
            </a:r>
            <a:endParaRPr lang="en-US" sz="1050" dirty="0"/>
          </a:p>
        </p:txBody>
      </p:sp>
      <p:sp>
        <p:nvSpPr>
          <p:cNvPr id="27" name="Text 25"/>
          <p:cNvSpPr/>
          <p:nvPr/>
        </p:nvSpPr>
        <p:spPr>
          <a:xfrm>
            <a:off x="502920" y="6035040"/>
            <a:ext cx="11155680" cy="384048"/>
          </a:xfrm>
          <a:prstGeom prst="rect">
            <a:avLst/>
          </a:prstGeom>
          <a:noFill/>
          <a:ln/>
        </p:spPr>
        <p:txBody>
          <a:bodyPr wrap="square" lIns="0" tIns="0" rIns="0" bIns="0" rtlCol="0" anchor="ctr"/>
          <a:lstStyle/>
          <a:p>
            <a:pPr indent="0" marL="0">
              <a:buNone/>
            </a:pPr>
            <a:r>
              <a:rPr lang="en-US" sz="1200" b="1" dirty="0">
                <a:solidFill>
                  <a:srgbClr val="C8862A"/>
                </a:solidFill>
                <a:latin typeface="Calibri" pitchFamily="34" charset="0"/>
                <a:ea typeface="Calibri" pitchFamily="34" charset="-122"/>
                <a:cs typeface="Calibri" pitchFamily="34" charset="-120"/>
              </a:rPr>
              <a:t>→  </a:t>
            </a:r>
            <a:pPr indent="0" marL="0">
              <a:buNone/>
            </a:pPr>
            <a:r>
              <a:rPr lang="en-US" sz="1200" i="1" dirty="0">
                <a:solidFill>
                  <a:srgbClr val="1E2761"/>
                </a:solidFill>
                <a:latin typeface="Calibri" pitchFamily="34" charset="0"/>
                <a:ea typeface="Calibri" pitchFamily="34" charset="-122"/>
                <a:cs typeface="Calibri" pitchFamily="34" charset="-120"/>
              </a:rPr>
              <a:t>One agent holding both the domain data and the domain tool cannot specialise. Stage 2 separates orchestration from expertise.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02920" y="274320"/>
            <a:ext cx="9692640" cy="65836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Stage 2 — Delegation to a specialist</a:t>
            </a:r>
            <a:endParaRPr lang="en-US" sz="3000" dirty="0"/>
          </a:p>
        </p:txBody>
      </p:sp>
      <p:sp>
        <p:nvSpPr>
          <p:cNvPr id="3" name="Shape 1"/>
          <p:cNvSpPr/>
          <p:nvPr/>
        </p:nvSpPr>
        <p:spPr>
          <a:xfrm>
            <a:off x="11109960" y="347472"/>
            <a:ext cx="548640" cy="548640"/>
          </a:xfrm>
          <a:prstGeom prst="ellipse">
            <a:avLst/>
          </a:prstGeom>
          <a:solidFill>
            <a:srgbClr val="1E2761"/>
          </a:solidFill>
          <a:ln/>
        </p:spPr>
      </p:sp>
      <p:sp>
        <p:nvSpPr>
          <p:cNvPr id="4" name="Text 2"/>
          <p:cNvSpPr/>
          <p:nvPr/>
        </p:nvSpPr>
        <p:spPr>
          <a:xfrm>
            <a:off x="11109960" y="347472"/>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5" name="Shape 3"/>
          <p:cNvSpPr/>
          <p:nvPr/>
        </p:nvSpPr>
        <p:spPr>
          <a:xfrm>
            <a:off x="640080" y="1600200"/>
            <a:ext cx="1371600" cy="658368"/>
          </a:xfrm>
          <a:prstGeom prst="roundRect">
            <a:avLst>
              <a:gd name="adj" fmla="val 8333"/>
            </a:avLst>
          </a:prstGeom>
          <a:solidFill>
            <a:srgbClr val="CADCFC"/>
          </a:solidFill>
          <a:ln w="12700">
            <a:solidFill>
              <a:srgbClr val="CADCFC"/>
            </a:solidFill>
            <a:prstDash val="solid"/>
          </a:ln>
          <a:effectLst>
            <a:outerShdw sx="100000" sy="100000" kx="0" ky="0" algn="bl" rotWithShape="0" blurRad="50800" dist="12700" dir="5400000">
              <a:srgbClr val="000000">
                <a:alpha val="10000"/>
              </a:srgbClr>
            </a:outerShdw>
          </a:effectLst>
        </p:spPr>
      </p:sp>
      <p:sp>
        <p:nvSpPr>
          <p:cNvPr id="6" name="Text 4"/>
          <p:cNvSpPr/>
          <p:nvPr/>
        </p:nvSpPr>
        <p:spPr>
          <a:xfrm>
            <a:off x="640080" y="1600200"/>
            <a:ext cx="1371600" cy="65836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Input</a:t>
            </a:r>
            <a:endParaRPr lang="en-US" sz="1100" dirty="0"/>
          </a:p>
          <a:p>
            <a:pPr algn="ctr" indent="0" marL="0">
              <a:buNone/>
            </a:pPr>
            <a:r>
              <a:rPr lang="en-US" sz="900" i="1" dirty="0">
                <a:solidFill>
                  <a:srgbClr val="1E2761"/>
                </a:solidFill>
                <a:latin typeface="Calibri" pitchFamily="34" charset="0"/>
                <a:ea typeface="Calibri" pitchFamily="34" charset="-122"/>
                <a:cs typeface="Calibri" pitchFamily="34" charset="-120"/>
              </a:rPr>
              <a:t>analyst query</a:t>
            </a:r>
            <a:endParaRPr lang="en-US" sz="1100" dirty="0"/>
          </a:p>
        </p:txBody>
      </p:sp>
      <p:sp>
        <p:nvSpPr>
          <p:cNvPr id="7" name="Shape 5"/>
          <p:cNvSpPr/>
          <p:nvPr/>
        </p:nvSpPr>
        <p:spPr>
          <a:xfrm>
            <a:off x="2103120" y="1929384"/>
            <a:ext cx="502920" cy="0"/>
          </a:xfrm>
          <a:prstGeom prst="line">
            <a:avLst/>
          </a:prstGeom>
          <a:noFill/>
          <a:ln w="19050">
            <a:solidFill>
              <a:srgbClr val="1E2761"/>
            </a:solidFill>
            <a:prstDash val="solid"/>
            <a:headEnd type="none"/>
            <a:tailEnd type="triangle"/>
          </a:ln>
        </p:spPr>
      </p:sp>
      <p:sp>
        <p:nvSpPr>
          <p:cNvPr id="8" name="Shape 6"/>
          <p:cNvSpPr/>
          <p:nvPr/>
        </p:nvSpPr>
        <p:spPr>
          <a:xfrm>
            <a:off x="2743200" y="1554480"/>
            <a:ext cx="1737360" cy="749808"/>
          </a:xfrm>
          <a:prstGeom prst="roundRect">
            <a:avLst>
              <a:gd name="adj" fmla="val 7317"/>
            </a:avLst>
          </a:prstGeom>
          <a:solidFill>
            <a:srgbClr val="1E2761"/>
          </a:solidFill>
          <a:ln w="12700">
            <a:solidFill>
              <a:srgbClr val="1E2761"/>
            </a:solidFill>
            <a:prstDash val="solid"/>
          </a:ln>
          <a:effectLst>
            <a:outerShdw sx="100000" sy="100000" kx="0" ky="0" algn="bl" rotWithShape="0" blurRad="50800" dist="12700" dir="5400000">
              <a:srgbClr val="000000">
                <a:alpha val="10000"/>
              </a:srgbClr>
            </a:outerShdw>
          </a:effectLst>
        </p:spPr>
      </p:sp>
      <p:sp>
        <p:nvSpPr>
          <p:cNvPr id="9" name="Text 7"/>
          <p:cNvSpPr/>
          <p:nvPr/>
        </p:nvSpPr>
        <p:spPr>
          <a:xfrm>
            <a:off x="2743200" y="1554480"/>
            <a:ext cx="1737360" cy="74980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Investment Case Agent</a:t>
            </a:r>
            <a:endParaRPr lang="en-US" sz="950" dirty="0"/>
          </a:p>
          <a:p>
            <a:pPr algn="ctr" indent="0" marL="0">
              <a:buNone/>
            </a:pPr>
            <a:r>
              <a:rPr lang="en-US" sz="750" i="1" dirty="0">
                <a:solidFill>
                  <a:srgbClr val="FFFFFF"/>
                </a:solidFill>
                <a:latin typeface="Calibri" pitchFamily="34" charset="0"/>
                <a:ea typeface="Calibri" pitchFamily="34" charset="-122"/>
                <a:cs typeface="Calibri" pitchFamily="34" charset="-120"/>
              </a:rPr>
              <a:t>routes + composes</a:t>
            </a:r>
            <a:endParaRPr lang="en-US" sz="950" dirty="0"/>
          </a:p>
        </p:txBody>
      </p:sp>
      <p:sp>
        <p:nvSpPr>
          <p:cNvPr id="10" name="Shape 8"/>
          <p:cNvSpPr/>
          <p:nvPr/>
        </p:nvSpPr>
        <p:spPr>
          <a:xfrm>
            <a:off x="4572000" y="1929384"/>
            <a:ext cx="502920" cy="0"/>
          </a:xfrm>
          <a:prstGeom prst="line">
            <a:avLst/>
          </a:prstGeom>
          <a:noFill/>
          <a:ln w="19050">
            <a:solidFill>
              <a:srgbClr val="1E2761"/>
            </a:solidFill>
            <a:prstDash val="solid"/>
            <a:headEnd type="none"/>
            <a:tailEnd type="triangle"/>
          </a:ln>
        </p:spPr>
      </p:sp>
      <p:sp>
        <p:nvSpPr>
          <p:cNvPr id="11" name="Shape 9"/>
          <p:cNvSpPr/>
          <p:nvPr/>
        </p:nvSpPr>
        <p:spPr>
          <a:xfrm>
            <a:off x="5212080" y="1600200"/>
            <a:ext cx="1371600" cy="658368"/>
          </a:xfrm>
          <a:prstGeom prst="roundRect">
            <a:avLst>
              <a:gd name="adj" fmla="val 8333"/>
            </a:avLst>
          </a:prstGeom>
          <a:solidFill>
            <a:srgbClr val="CADCFC"/>
          </a:solidFill>
          <a:ln w="12700">
            <a:solidFill>
              <a:srgbClr val="CADCFC"/>
            </a:solidFill>
            <a:prstDash val="solid"/>
          </a:ln>
          <a:effectLst>
            <a:outerShdw sx="100000" sy="100000" kx="0" ky="0" algn="bl" rotWithShape="0" blurRad="50800" dist="12700" dir="5400000">
              <a:srgbClr val="000000">
                <a:alpha val="10000"/>
              </a:srgbClr>
            </a:outerShdw>
          </a:effectLst>
        </p:spPr>
      </p:sp>
      <p:sp>
        <p:nvSpPr>
          <p:cNvPr id="12" name="Text 10"/>
          <p:cNvSpPr/>
          <p:nvPr/>
        </p:nvSpPr>
        <p:spPr>
          <a:xfrm>
            <a:off x="5212080" y="1600200"/>
            <a:ext cx="1371600" cy="658368"/>
          </a:xfrm>
          <a:prstGeom prst="rect">
            <a:avLst/>
          </a:prstGeom>
          <a:noFill/>
          <a:ln/>
        </p:spPr>
        <p:txBody>
          <a:bodyPr wrap="square" lIns="0" tIns="0" rIns="0" bIns="0" rtlCol="0" anchor="ctr"/>
          <a:lstStyle/>
          <a:p>
            <a:pPr algn="ctr" indent="0" marL="0">
              <a:buNone/>
            </a:pPr>
            <a:r>
              <a:rPr lang="en-US" sz="1000" b="1" dirty="0">
                <a:solidFill>
                  <a:srgbClr val="1E2761"/>
                </a:solidFill>
                <a:latin typeface="Calibri" pitchFamily="34" charset="0"/>
                <a:ea typeface="Calibri" pitchFamily="34" charset="-122"/>
                <a:cs typeface="Calibri" pitchFamily="34" charset="-120"/>
              </a:rPr>
              <a:t>Investment</a:t>
            </a:r>
            <a:endParaRPr lang="en-US" sz="1000" dirty="0"/>
          </a:p>
          <a:p>
            <a:pPr algn="ctr" indent="0" marL="0">
              <a:buNone/>
            </a:pPr>
            <a:r>
              <a:rPr lang="en-US" sz="800" i="1" dirty="0">
                <a:solidFill>
                  <a:srgbClr val="1E2761"/>
                </a:solidFill>
                <a:latin typeface="Calibri" pitchFamily="34" charset="0"/>
                <a:ea typeface="Calibri" pitchFamily="34" charset="-122"/>
                <a:cs typeface="Calibri" pitchFamily="34" charset="-120"/>
              </a:rPr>
              <a:t>Thesis</a:t>
            </a:r>
            <a:endParaRPr lang="en-US" sz="1000" dirty="0"/>
          </a:p>
        </p:txBody>
      </p:sp>
      <p:sp>
        <p:nvSpPr>
          <p:cNvPr id="13" name="Shape 11"/>
          <p:cNvSpPr/>
          <p:nvPr/>
        </p:nvSpPr>
        <p:spPr>
          <a:xfrm>
            <a:off x="3611880" y="2304288"/>
            <a:ext cx="0" cy="731520"/>
          </a:xfrm>
          <a:prstGeom prst="line">
            <a:avLst/>
          </a:prstGeom>
          <a:noFill/>
          <a:ln w="19050">
            <a:solidFill>
              <a:srgbClr val="1E2761"/>
            </a:solidFill>
            <a:prstDash val="solid"/>
            <a:headEnd type="triangle"/>
            <a:tailEnd type="triangle"/>
          </a:ln>
        </p:spPr>
      </p:sp>
      <p:sp>
        <p:nvSpPr>
          <p:cNvPr id="14" name="Shape 12"/>
          <p:cNvSpPr/>
          <p:nvPr/>
        </p:nvSpPr>
        <p:spPr>
          <a:xfrm>
            <a:off x="2743200" y="3063240"/>
            <a:ext cx="1737360" cy="731520"/>
          </a:xfrm>
          <a:prstGeom prst="roundRect">
            <a:avLst>
              <a:gd name="adj" fmla="val 7500"/>
            </a:avLst>
          </a:prstGeom>
          <a:solidFill>
            <a:srgbClr val="1E2761"/>
          </a:solidFill>
          <a:ln w="12700">
            <a:solidFill>
              <a:srgbClr val="1E2761"/>
            </a:solidFill>
            <a:prstDash val="solid"/>
          </a:ln>
          <a:effectLst>
            <a:outerShdw sx="100000" sy="100000" kx="0" ky="0" algn="bl" rotWithShape="0" blurRad="50800" dist="12700" dir="5400000">
              <a:srgbClr val="000000">
                <a:alpha val="10000"/>
              </a:srgbClr>
            </a:outerShdw>
          </a:effectLst>
        </p:spPr>
      </p:sp>
      <p:sp>
        <p:nvSpPr>
          <p:cNvPr id="15" name="Text 13"/>
          <p:cNvSpPr/>
          <p:nvPr/>
        </p:nvSpPr>
        <p:spPr>
          <a:xfrm>
            <a:off x="2743200" y="3063240"/>
            <a:ext cx="1737360"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RWE Agent</a:t>
            </a:r>
            <a:endParaRPr lang="en-US" sz="1100" dirty="0"/>
          </a:p>
          <a:p>
            <a:pPr algn="ctr" indent="0" marL="0">
              <a:buNone/>
            </a:pPr>
            <a:r>
              <a:rPr lang="en-US" sz="900" i="1" dirty="0">
                <a:solidFill>
                  <a:srgbClr val="FFFFFF"/>
                </a:solidFill>
                <a:latin typeface="Calibri" pitchFamily="34" charset="0"/>
                <a:ea typeface="Calibri" pitchFamily="34" charset="-122"/>
                <a:cs typeface="Calibri" pitchFamily="34" charset="-120"/>
              </a:rPr>
              <a:t>epidemiology</a:t>
            </a:r>
            <a:endParaRPr lang="en-US" sz="1100" dirty="0"/>
          </a:p>
        </p:txBody>
      </p:sp>
      <p:sp>
        <p:nvSpPr>
          <p:cNvPr id="16" name="Shape 14"/>
          <p:cNvSpPr/>
          <p:nvPr/>
        </p:nvSpPr>
        <p:spPr>
          <a:xfrm>
            <a:off x="3611880" y="3794760"/>
            <a:ext cx="0" cy="502920"/>
          </a:xfrm>
          <a:prstGeom prst="line">
            <a:avLst/>
          </a:prstGeom>
          <a:noFill/>
          <a:ln w="12700">
            <a:solidFill>
              <a:srgbClr val="1E2761"/>
            </a:solidFill>
            <a:prstDash val="dash"/>
          </a:ln>
        </p:spPr>
      </p:sp>
      <p:sp>
        <p:nvSpPr>
          <p:cNvPr id="17" name="Shape 15"/>
          <p:cNvSpPr/>
          <p:nvPr/>
        </p:nvSpPr>
        <p:spPr>
          <a:xfrm>
            <a:off x="2194560" y="4297680"/>
            <a:ext cx="2834640" cy="0"/>
          </a:xfrm>
          <a:prstGeom prst="line">
            <a:avLst/>
          </a:prstGeom>
          <a:noFill/>
          <a:ln w="12700">
            <a:solidFill>
              <a:srgbClr val="1E2761"/>
            </a:solidFill>
            <a:prstDash val="dash"/>
          </a:ln>
        </p:spPr>
      </p:sp>
      <p:sp>
        <p:nvSpPr>
          <p:cNvPr id="18" name="Shape 16"/>
          <p:cNvSpPr/>
          <p:nvPr/>
        </p:nvSpPr>
        <p:spPr>
          <a:xfrm>
            <a:off x="2194560" y="4297680"/>
            <a:ext cx="0" cy="365760"/>
          </a:xfrm>
          <a:prstGeom prst="line">
            <a:avLst/>
          </a:prstGeom>
          <a:noFill/>
          <a:ln w="12700">
            <a:solidFill>
              <a:srgbClr val="1E2761"/>
            </a:solidFill>
            <a:prstDash val="dash"/>
          </a:ln>
        </p:spPr>
      </p:sp>
      <p:sp>
        <p:nvSpPr>
          <p:cNvPr id="19" name="Shape 17"/>
          <p:cNvSpPr/>
          <p:nvPr/>
        </p:nvSpPr>
        <p:spPr>
          <a:xfrm>
            <a:off x="5029200" y="4297680"/>
            <a:ext cx="0" cy="365760"/>
          </a:xfrm>
          <a:prstGeom prst="line">
            <a:avLst/>
          </a:prstGeom>
          <a:noFill/>
          <a:ln w="12700">
            <a:solidFill>
              <a:srgbClr val="1E2761"/>
            </a:solidFill>
            <a:prstDash val="dash"/>
          </a:ln>
        </p:spPr>
      </p:sp>
      <p:sp>
        <p:nvSpPr>
          <p:cNvPr id="20" name="Shape 18"/>
          <p:cNvSpPr/>
          <p:nvPr/>
        </p:nvSpPr>
        <p:spPr>
          <a:xfrm>
            <a:off x="1463040" y="4663440"/>
            <a:ext cx="1463040" cy="868680"/>
          </a:xfrm>
          <a:prstGeom prst="roundRect">
            <a:avLst>
              <a:gd name="adj" fmla="val 6316"/>
            </a:avLst>
          </a:prstGeom>
          <a:solidFill>
            <a:srgbClr val="CADCFC"/>
          </a:solidFill>
          <a:ln w="12700">
            <a:solidFill>
              <a:srgbClr val="CADCFC"/>
            </a:solidFill>
            <a:prstDash val="solid"/>
          </a:ln>
          <a:effectLst>
            <a:outerShdw sx="100000" sy="100000" kx="0" ky="0" algn="bl" rotWithShape="0" blurRad="50800" dist="12700" dir="5400000">
              <a:srgbClr val="000000">
                <a:alpha val="10000"/>
              </a:srgbClr>
            </a:outerShdw>
          </a:effectLst>
        </p:spPr>
      </p:sp>
      <p:sp>
        <p:nvSpPr>
          <p:cNvPr id="21" name="Text 19"/>
          <p:cNvSpPr/>
          <p:nvPr/>
        </p:nvSpPr>
        <p:spPr>
          <a:xfrm>
            <a:off x="1463040" y="4663440"/>
            <a:ext cx="1463040" cy="868680"/>
          </a:xfrm>
          <a:prstGeom prst="rect">
            <a:avLst/>
          </a:prstGeom>
          <a:noFill/>
          <a:ln/>
        </p:spPr>
        <p:txBody>
          <a:bodyPr wrap="square" lIns="0" tIns="0" rIns="0" bIns="0" rtlCol="0" anchor="ctr"/>
          <a:lstStyle/>
          <a:p>
            <a:pPr algn="ctr" indent="0" marL="0">
              <a:buNone/>
            </a:pPr>
            <a:r>
              <a:rPr lang="en-US" sz="850" b="1" dirty="0">
                <a:solidFill>
                  <a:srgbClr val="1E2761"/>
                </a:solidFill>
                <a:latin typeface="Calibri" pitchFamily="34" charset="0"/>
                <a:ea typeface="Calibri" pitchFamily="34" charset="-122"/>
                <a:cs typeface="Calibri" pitchFamily="34" charset="-120"/>
              </a:rPr>
              <a:t>DATA SOURCES</a:t>
            </a:r>
            <a:endParaRPr lang="en-US" sz="850" dirty="0"/>
          </a:p>
          <a:p>
            <a:pPr algn="ctr" indent="0" marL="0">
              <a:buNone/>
            </a:pPr>
            <a:r>
              <a:rPr lang="en-US" sz="650" i="1" dirty="0">
                <a:solidFill>
                  <a:srgbClr val="1E2761"/>
                </a:solidFill>
                <a:latin typeface="Calibri" pitchFamily="34" charset="0"/>
                <a:ea typeface="Calibri" pitchFamily="34" charset="-122"/>
                <a:cs typeface="Calibri" pitchFamily="34" charset="-120"/>
              </a:rPr>
              <a:t>Insurance Claims Data</a:t>
            </a:r>
            <a:endParaRPr lang="en-US" sz="850" dirty="0"/>
          </a:p>
        </p:txBody>
      </p:sp>
      <p:sp>
        <p:nvSpPr>
          <p:cNvPr id="22" name="Shape 20"/>
          <p:cNvSpPr/>
          <p:nvPr/>
        </p:nvSpPr>
        <p:spPr>
          <a:xfrm>
            <a:off x="4297680" y="4663440"/>
            <a:ext cx="1463040" cy="868680"/>
          </a:xfrm>
          <a:prstGeom prst="roundRect">
            <a:avLst>
              <a:gd name="adj" fmla="val 6316"/>
            </a:avLst>
          </a:prstGeom>
          <a:solidFill>
            <a:srgbClr val="4F6BA8"/>
          </a:solidFill>
          <a:ln w="12700">
            <a:solidFill>
              <a:srgbClr val="4F6BA8"/>
            </a:solidFill>
            <a:prstDash val="solid"/>
          </a:ln>
          <a:effectLst>
            <a:outerShdw sx="100000" sy="100000" kx="0" ky="0" algn="bl" rotWithShape="0" blurRad="50800" dist="12700" dir="5400000">
              <a:srgbClr val="000000">
                <a:alpha val="10000"/>
              </a:srgbClr>
            </a:outerShdw>
          </a:effectLst>
        </p:spPr>
      </p:sp>
      <p:sp>
        <p:nvSpPr>
          <p:cNvPr id="23" name="Text 21"/>
          <p:cNvSpPr/>
          <p:nvPr/>
        </p:nvSpPr>
        <p:spPr>
          <a:xfrm>
            <a:off x="4297680" y="4663440"/>
            <a:ext cx="1463040" cy="86868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TOOLS</a:t>
            </a:r>
            <a:endParaRPr lang="en-US" sz="1000" dirty="0"/>
          </a:p>
          <a:p>
            <a:pPr algn="ctr" indent="0" marL="0">
              <a:buNone/>
            </a:pPr>
            <a:r>
              <a:rPr lang="en-US" sz="800" i="1" dirty="0">
                <a:solidFill>
                  <a:srgbClr val="FFFFFF"/>
                </a:solidFill>
                <a:latin typeface="Calibri" pitchFamily="34" charset="0"/>
                <a:ea typeface="Calibri" pitchFamily="34" charset="-122"/>
                <a:cs typeface="Calibri" pitchFamily="34" charset="-120"/>
              </a:rPr>
              <a:t>TAM estimate</a:t>
            </a:r>
            <a:endParaRPr lang="en-US" sz="1000" dirty="0"/>
          </a:p>
        </p:txBody>
      </p:sp>
      <p:sp>
        <p:nvSpPr>
          <p:cNvPr id="24" name="Shape 22"/>
          <p:cNvSpPr/>
          <p:nvPr/>
        </p:nvSpPr>
        <p:spPr>
          <a:xfrm>
            <a:off x="8092440" y="1188720"/>
            <a:ext cx="3611880" cy="2148840"/>
          </a:xfrm>
          <a:prstGeom prst="roundRect">
            <a:avLst>
              <a:gd name="adj" fmla="val 2553"/>
            </a:avLst>
          </a:prstGeom>
          <a:solidFill>
            <a:srgbClr val="F4F6FA"/>
          </a:solidFill>
          <a:ln w="12700">
            <a:solidFill>
              <a:srgbClr val="DDE3EE"/>
            </a:solidFill>
            <a:prstDash val="solid"/>
          </a:ln>
        </p:spPr>
      </p:sp>
      <p:sp>
        <p:nvSpPr>
          <p:cNvPr id="25" name="Text 23"/>
          <p:cNvSpPr/>
          <p:nvPr/>
        </p:nvSpPr>
        <p:spPr>
          <a:xfrm>
            <a:off x="8293608" y="1307592"/>
            <a:ext cx="3209544" cy="274320"/>
          </a:xfrm>
          <a:prstGeom prst="rect">
            <a:avLst/>
          </a:prstGeom>
          <a:noFill/>
          <a:ln/>
        </p:spPr>
        <p:txBody>
          <a:bodyPr wrap="square" lIns="0" tIns="0" rIns="0" bIns="0" rtlCol="0" anchor="ctr"/>
          <a:lstStyle/>
          <a:p>
            <a:pPr indent="0" marL="0">
              <a:buNone/>
            </a:pPr>
            <a:r>
              <a:rPr lang="en-US" sz="1200" b="1" spc="120" kern="0" dirty="0">
                <a:solidFill>
                  <a:srgbClr val="1E2761"/>
                </a:solidFill>
                <a:latin typeface="Calibri" pitchFamily="34" charset="0"/>
                <a:ea typeface="Calibri" pitchFamily="34" charset="-122"/>
                <a:cs typeface="Calibri" pitchFamily="34" charset="-120"/>
              </a:rPr>
              <a:t>BENEFITS</a:t>
            </a:r>
            <a:endParaRPr lang="en-US" sz="1200" dirty="0"/>
          </a:p>
        </p:txBody>
      </p:sp>
      <p:sp>
        <p:nvSpPr>
          <p:cNvPr id="26" name="Text 24"/>
          <p:cNvSpPr/>
          <p:nvPr/>
        </p:nvSpPr>
        <p:spPr>
          <a:xfrm>
            <a:off x="8293608" y="1627632"/>
            <a:ext cx="3209544" cy="16002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Domain expertise isolated and testable</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Orchestrator swaps specialists freely</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Sub-agent prompt evolves independently</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Failures localise to one agent</a:t>
            </a:r>
            <a:endParaRPr lang="en-US" sz="1050" dirty="0"/>
          </a:p>
        </p:txBody>
      </p:sp>
      <p:sp>
        <p:nvSpPr>
          <p:cNvPr id="27" name="Shape 25"/>
          <p:cNvSpPr/>
          <p:nvPr/>
        </p:nvSpPr>
        <p:spPr>
          <a:xfrm>
            <a:off x="8092440" y="3520440"/>
            <a:ext cx="3611880" cy="2286000"/>
          </a:xfrm>
          <a:prstGeom prst="roundRect">
            <a:avLst>
              <a:gd name="adj" fmla="val 2400"/>
            </a:avLst>
          </a:prstGeom>
          <a:solidFill>
            <a:srgbClr val="FFFFFF"/>
          </a:solidFill>
          <a:ln w="15875">
            <a:solidFill>
              <a:srgbClr val="C8862A"/>
            </a:solidFill>
            <a:prstDash val="solid"/>
          </a:ln>
        </p:spPr>
      </p:sp>
      <p:sp>
        <p:nvSpPr>
          <p:cNvPr id="28" name="Text 26"/>
          <p:cNvSpPr/>
          <p:nvPr/>
        </p:nvSpPr>
        <p:spPr>
          <a:xfrm>
            <a:off x="8293608" y="3639312"/>
            <a:ext cx="3209544" cy="274320"/>
          </a:xfrm>
          <a:prstGeom prst="rect">
            <a:avLst/>
          </a:prstGeom>
          <a:noFill/>
          <a:ln/>
        </p:spPr>
        <p:txBody>
          <a:bodyPr wrap="square" lIns="0" tIns="0" rIns="0" bIns="0" rtlCol="0" anchor="ctr"/>
          <a:lstStyle/>
          <a:p>
            <a:pPr indent="0" marL="0">
              <a:buNone/>
            </a:pPr>
            <a:r>
              <a:rPr lang="en-US" sz="1200" b="1" spc="120" kern="0" dirty="0">
                <a:solidFill>
                  <a:srgbClr val="C8862A"/>
                </a:solidFill>
                <a:latin typeface="Calibri" pitchFamily="34" charset="0"/>
                <a:ea typeface="Calibri" pitchFamily="34" charset="-122"/>
                <a:cs typeface="Calibri" pitchFamily="34" charset="-120"/>
              </a:rPr>
              <a:t>LIMITATIONS</a:t>
            </a:r>
            <a:endParaRPr lang="en-US" sz="1200" dirty="0"/>
          </a:p>
        </p:txBody>
      </p:sp>
      <p:sp>
        <p:nvSpPr>
          <p:cNvPr id="29" name="Text 27"/>
          <p:cNvSpPr/>
          <p:nvPr/>
        </p:nvSpPr>
        <p:spPr>
          <a:xfrm>
            <a:off x="8293608" y="3959352"/>
            <a:ext cx="3209544" cy="17373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Still a single domain of evidence</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Routing errors are silent</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Latency and cost rise per hop</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Orchestrator has no view into sub-agent reasoning</a:t>
            </a:r>
            <a:endParaRPr lang="en-US" sz="1050" dirty="0"/>
          </a:p>
        </p:txBody>
      </p:sp>
      <p:sp>
        <p:nvSpPr>
          <p:cNvPr id="30" name="Text 28"/>
          <p:cNvSpPr/>
          <p:nvPr/>
        </p:nvSpPr>
        <p:spPr>
          <a:xfrm>
            <a:off x="502920" y="6035040"/>
            <a:ext cx="11155680" cy="384048"/>
          </a:xfrm>
          <a:prstGeom prst="rect">
            <a:avLst/>
          </a:prstGeom>
          <a:noFill/>
          <a:ln/>
        </p:spPr>
        <p:txBody>
          <a:bodyPr wrap="square" lIns="0" tIns="0" rIns="0" bIns="0" rtlCol="0" anchor="ctr"/>
          <a:lstStyle/>
          <a:p>
            <a:pPr indent="0" marL="0">
              <a:buNone/>
            </a:pPr>
            <a:r>
              <a:rPr lang="en-US" sz="1200" b="1" dirty="0">
                <a:solidFill>
                  <a:srgbClr val="C8862A"/>
                </a:solidFill>
                <a:latin typeface="Calibri" pitchFamily="34" charset="0"/>
                <a:ea typeface="Calibri" pitchFamily="34" charset="-122"/>
                <a:cs typeface="Calibri" pitchFamily="34" charset="-120"/>
              </a:rPr>
              <a:t>→  </a:t>
            </a:r>
            <a:pPr indent="0" marL="0">
              <a:buNone/>
            </a:pPr>
            <a:r>
              <a:rPr lang="en-US" sz="1200" i="1" dirty="0">
                <a:solidFill>
                  <a:srgbClr val="1E2761"/>
                </a:solidFill>
                <a:latin typeface="Calibri" pitchFamily="34" charset="0"/>
                <a:ea typeface="Calibri" pitchFamily="34" charset="-122"/>
                <a:cs typeface="Calibri" pitchFamily="34" charset="-120"/>
              </a:rPr>
              <a:t>One specialist answers one class of question. An investment thesis needs trials, financials and literature too. Stage 3 adds coverage.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274320"/>
            <a:ext cx="9692640" cy="65836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Stage 3 — Multi-agent ecosystem</a:t>
            </a:r>
            <a:endParaRPr lang="en-US" sz="3000" dirty="0"/>
          </a:p>
        </p:txBody>
      </p:sp>
      <p:sp>
        <p:nvSpPr>
          <p:cNvPr id="3" name="Shape 1"/>
          <p:cNvSpPr/>
          <p:nvPr/>
        </p:nvSpPr>
        <p:spPr>
          <a:xfrm>
            <a:off x="11109960" y="347472"/>
            <a:ext cx="548640" cy="548640"/>
          </a:xfrm>
          <a:prstGeom prst="ellipse">
            <a:avLst/>
          </a:prstGeom>
          <a:solidFill>
            <a:srgbClr val="1E2761"/>
          </a:solidFill>
          <a:ln/>
        </p:spPr>
      </p:sp>
      <p:sp>
        <p:nvSpPr>
          <p:cNvPr id="4" name="Text 2"/>
          <p:cNvSpPr/>
          <p:nvPr/>
        </p:nvSpPr>
        <p:spPr>
          <a:xfrm>
            <a:off x="11109960" y="347472"/>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5" name="Shape 3"/>
          <p:cNvSpPr/>
          <p:nvPr/>
        </p:nvSpPr>
        <p:spPr>
          <a:xfrm>
            <a:off x="548640" y="2057400"/>
            <a:ext cx="1325880" cy="841248"/>
          </a:xfrm>
          <a:prstGeom prst="roundRect">
            <a:avLst>
              <a:gd name="adj" fmla="val 6522"/>
            </a:avLst>
          </a:prstGeom>
          <a:solidFill>
            <a:srgbClr val="C8862A"/>
          </a:solidFill>
          <a:ln w="12700">
            <a:solidFill>
              <a:srgbClr val="C8862A"/>
            </a:solidFill>
            <a:prstDash val="solid"/>
          </a:ln>
          <a:effectLst>
            <a:outerShdw sx="100000" sy="100000" kx="0" ky="0" algn="bl" rotWithShape="0" blurRad="50800" dist="12700" dir="5400000">
              <a:srgbClr val="000000">
                <a:alpha val="10000"/>
              </a:srgbClr>
            </a:outerShdw>
          </a:effectLst>
        </p:spPr>
      </p:sp>
      <p:sp>
        <p:nvSpPr>
          <p:cNvPr id="6" name="Text 4"/>
          <p:cNvSpPr/>
          <p:nvPr/>
        </p:nvSpPr>
        <p:spPr>
          <a:xfrm>
            <a:off x="548640" y="2057400"/>
            <a:ext cx="1325880" cy="84124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BB Biotech Analyst</a:t>
            </a:r>
            <a:endParaRPr lang="en-US" sz="900" dirty="0"/>
          </a:p>
          <a:p>
            <a:pPr algn="ctr" indent="0" marL="0">
              <a:buNone/>
            </a:pPr>
            <a:r>
              <a:rPr lang="en-US" sz="700" i="1" dirty="0">
                <a:solidFill>
                  <a:srgbClr val="FFFFFF"/>
                </a:solidFill>
                <a:latin typeface="Calibri" pitchFamily="34" charset="0"/>
                <a:ea typeface="Calibri" pitchFamily="34" charset="-122"/>
                <a:cs typeface="Calibri" pitchFamily="34" charset="-120"/>
              </a:rPr>
              <a:t>thesis in / out</a:t>
            </a:r>
            <a:endParaRPr lang="en-US" sz="900" dirty="0"/>
          </a:p>
        </p:txBody>
      </p:sp>
      <p:sp>
        <p:nvSpPr>
          <p:cNvPr id="7" name="Shape 5"/>
          <p:cNvSpPr/>
          <p:nvPr/>
        </p:nvSpPr>
        <p:spPr>
          <a:xfrm>
            <a:off x="1920240" y="2478024"/>
            <a:ext cx="502920" cy="0"/>
          </a:xfrm>
          <a:prstGeom prst="line">
            <a:avLst/>
          </a:prstGeom>
          <a:noFill/>
          <a:ln w="19050">
            <a:solidFill>
              <a:srgbClr val="1E2761"/>
            </a:solidFill>
            <a:prstDash val="solid"/>
            <a:headEnd type="triangle"/>
            <a:tailEnd type="triangle"/>
          </a:ln>
        </p:spPr>
      </p:sp>
      <p:sp>
        <p:nvSpPr>
          <p:cNvPr id="8" name="Shape 6"/>
          <p:cNvSpPr/>
          <p:nvPr/>
        </p:nvSpPr>
        <p:spPr>
          <a:xfrm>
            <a:off x="2560320" y="2011680"/>
            <a:ext cx="1600200" cy="914400"/>
          </a:xfrm>
          <a:prstGeom prst="roundRect">
            <a:avLst>
              <a:gd name="adj" fmla="val 6000"/>
            </a:avLst>
          </a:prstGeom>
          <a:solidFill>
            <a:srgbClr val="1E2761"/>
          </a:solidFill>
          <a:ln w="12700">
            <a:solidFill>
              <a:srgbClr val="1E2761"/>
            </a:solidFill>
            <a:prstDash val="solid"/>
          </a:ln>
          <a:effectLst>
            <a:outerShdw sx="100000" sy="100000" kx="0" ky="0" algn="bl" rotWithShape="0" blurRad="50800" dist="12700" dir="5400000">
              <a:srgbClr val="000000">
                <a:alpha val="10000"/>
              </a:srgbClr>
            </a:outerShdw>
          </a:effectLst>
        </p:spPr>
      </p:sp>
      <p:sp>
        <p:nvSpPr>
          <p:cNvPr id="9" name="Text 7"/>
          <p:cNvSpPr/>
          <p:nvPr/>
        </p:nvSpPr>
        <p:spPr>
          <a:xfrm>
            <a:off x="2560320" y="2011680"/>
            <a:ext cx="1600200" cy="9144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Investment Case Agent</a:t>
            </a:r>
            <a:endParaRPr lang="en-US" sz="1000" dirty="0"/>
          </a:p>
        </p:txBody>
      </p:sp>
      <p:sp>
        <p:nvSpPr>
          <p:cNvPr id="10" name="Shape 8"/>
          <p:cNvSpPr/>
          <p:nvPr/>
        </p:nvSpPr>
        <p:spPr>
          <a:xfrm>
            <a:off x="4709160" y="1371600"/>
            <a:ext cx="1920240" cy="621792"/>
          </a:xfrm>
          <a:prstGeom prst="roundRect">
            <a:avLst>
              <a:gd name="adj" fmla="val 8824"/>
            </a:avLst>
          </a:prstGeom>
          <a:solidFill>
            <a:srgbClr val="1E2761"/>
          </a:solidFill>
          <a:ln w="12700">
            <a:solidFill>
              <a:srgbClr val="1E2761"/>
            </a:solidFill>
            <a:prstDash val="solid"/>
          </a:ln>
          <a:effectLst>
            <a:outerShdw sx="100000" sy="100000" kx="0" ky="0" algn="bl" rotWithShape="0" blurRad="50800" dist="12700" dir="5400000">
              <a:srgbClr val="000000">
                <a:alpha val="10000"/>
              </a:srgbClr>
            </a:outerShdw>
          </a:effectLst>
        </p:spPr>
      </p:sp>
      <p:sp>
        <p:nvSpPr>
          <p:cNvPr id="11" name="Text 9"/>
          <p:cNvSpPr/>
          <p:nvPr/>
        </p:nvSpPr>
        <p:spPr>
          <a:xfrm>
            <a:off x="4709160" y="1371600"/>
            <a:ext cx="1920240" cy="6217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RWE Agent</a:t>
            </a:r>
            <a:endParaRPr lang="en-US" sz="950" dirty="0"/>
          </a:p>
          <a:p>
            <a:pPr algn="ctr" indent="0" marL="0">
              <a:buNone/>
            </a:pPr>
            <a:r>
              <a:rPr lang="en-US" sz="750" i="1" dirty="0">
                <a:solidFill>
                  <a:srgbClr val="FFFFFF"/>
                </a:solidFill>
                <a:latin typeface="Calibri" pitchFamily="34" charset="0"/>
                <a:ea typeface="Calibri" pitchFamily="34" charset="-122"/>
                <a:cs typeface="Calibri" pitchFamily="34" charset="-120"/>
              </a:rPr>
              <a:t>claims, epidemiology</a:t>
            </a:r>
            <a:endParaRPr lang="en-US" sz="950" dirty="0"/>
          </a:p>
        </p:txBody>
      </p:sp>
      <p:sp>
        <p:nvSpPr>
          <p:cNvPr id="12" name="Shape 10"/>
          <p:cNvSpPr/>
          <p:nvPr/>
        </p:nvSpPr>
        <p:spPr>
          <a:xfrm>
            <a:off x="4206240" y="2468880"/>
            <a:ext cx="502920" cy="-786384"/>
          </a:xfrm>
          <a:prstGeom prst="line">
            <a:avLst/>
          </a:prstGeom>
          <a:noFill/>
          <a:ln w="12700">
            <a:solidFill>
              <a:srgbClr val="1E2761"/>
            </a:solidFill>
            <a:prstDash val="dash"/>
          </a:ln>
        </p:spPr>
      </p:sp>
      <p:sp>
        <p:nvSpPr>
          <p:cNvPr id="13" name="Shape 11"/>
          <p:cNvSpPr/>
          <p:nvPr/>
        </p:nvSpPr>
        <p:spPr>
          <a:xfrm>
            <a:off x="4709160" y="2148840"/>
            <a:ext cx="1920240" cy="621792"/>
          </a:xfrm>
          <a:prstGeom prst="roundRect">
            <a:avLst>
              <a:gd name="adj" fmla="val 8824"/>
            </a:avLst>
          </a:prstGeom>
          <a:solidFill>
            <a:srgbClr val="1E2761"/>
          </a:solidFill>
          <a:ln w="12700">
            <a:solidFill>
              <a:srgbClr val="1E2761"/>
            </a:solidFill>
            <a:prstDash val="solid"/>
          </a:ln>
          <a:effectLst>
            <a:outerShdw sx="100000" sy="100000" kx="0" ky="0" algn="bl" rotWithShape="0" blurRad="50800" dist="12700" dir="5400000">
              <a:srgbClr val="000000">
                <a:alpha val="10000"/>
              </a:srgbClr>
            </a:outerShdw>
          </a:effectLst>
        </p:spPr>
      </p:sp>
      <p:sp>
        <p:nvSpPr>
          <p:cNvPr id="14" name="Text 12"/>
          <p:cNvSpPr/>
          <p:nvPr/>
        </p:nvSpPr>
        <p:spPr>
          <a:xfrm>
            <a:off x="4709160" y="2148840"/>
            <a:ext cx="1920240" cy="6217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Clinical Trial Simulator</a:t>
            </a:r>
            <a:endParaRPr lang="en-US" sz="950" dirty="0"/>
          </a:p>
          <a:p>
            <a:pPr algn="ctr" indent="0" marL="0">
              <a:buNone/>
            </a:pPr>
            <a:r>
              <a:rPr lang="en-US" sz="750" i="1" dirty="0">
                <a:solidFill>
                  <a:srgbClr val="FFFFFF"/>
                </a:solidFill>
                <a:latin typeface="Calibri" pitchFamily="34" charset="0"/>
                <a:ea typeface="Calibri" pitchFamily="34" charset="-122"/>
                <a:cs typeface="Calibri" pitchFamily="34" charset="-120"/>
              </a:rPr>
              <a:t>readouts, design</a:t>
            </a:r>
            <a:endParaRPr lang="en-US" sz="950" dirty="0"/>
          </a:p>
        </p:txBody>
      </p:sp>
      <p:sp>
        <p:nvSpPr>
          <p:cNvPr id="15" name="Shape 13"/>
          <p:cNvSpPr/>
          <p:nvPr/>
        </p:nvSpPr>
        <p:spPr>
          <a:xfrm>
            <a:off x="4206240" y="2468880"/>
            <a:ext cx="502920" cy="-9144"/>
          </a:xfrm>
          <a:prstGeom prst="line">
            <a:avLst/>
          </a:prstGeom>
          <a:noFill/>
          <a:ln w="12700">
            <a:solidFill>
              <a:srgbClr val="1E2761"/>
            </a:solidFill>
            <a:prstDash val="dash"/>
          </a:ln>
        </p:spPr>
      </p:sp>
      <p:sp>
        <p:nvSpPr>
          <p:cNvPr id="16" name="Shape 14"/>
          <p:cNvSpPr/>
          <p:nvPr/>
        </p:nvSpPr>
        <p:spPr>
          <a:xfrm>
            <a:off x="4709160" y="2926080"/>
            <a:ext cx="1920240" cy="621792"/>
          </a:xfrm>
          <a:prstGeom prst="roundRect">
            <a:avLst>
              <a:gd name="adj" fmla="val 8824"/>
            </a:avLst>
          </a:prstGeom>
          <a:solidFill>
            <a:srgbClr val="1E2761"/>
          </a:solidFill>
          <a:ln w="12700">
            <a:solidFill>
              <a:srgbClr val="1E2761"/>
            </a:solidFill>
            <a:prstDash val="solid"/>
          </a:ln>
          <a:effectLst>
            <a:outerShdw sx="100000" sy="100000" kx="0" ky="0" algn="bl" rotWithShape="0" blurRad="50800" dist="12700" dir="5400000">
              <a:srgbClr val="000000">
                <a:alpha val="10000"/>
              </a:srgbClr>
            </a:outerShdw>
          </a:effectLst>
        </p:spPr>
      </p:sp>
      <p:sp>
        <p:nvSpPr>
          <p:cNvPr id="17" name="Text 15"/>
          <p:cNvSpPr/>
          <p:nvPr/>
        </p:nvSpPr>
        <p:spPr>
          <a:xfrm>
            <a:off x="4709160" y="2926080"/>
            <a:ext cx="1920240" cy="6217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Financial Model Agent</a:t>
            </a:r>
            <a:endParaRPr lang="en-US" sz="950" dirty="0"/>
          </a:p>
          <a:p>
            <a:pPr algn="ctr" indent="0" marL="0">
              <a:buNone/>
            </a:pPr>
            <a:r>
              <a:rPr lang="en-US" sz="750" i="1" dirty="0">
                <a:solidFill>
                  <a:srgbClr val="FFFFFF"/>
                </a:solidFill>
                <a:latin typeface="Calibri" pitchFamily="34" charset="0"/>
                <a:ea typeface="Calibri" pitchFamily="34" charset="-122"/>
                <a:cs typeface="Calibri" pitchFamily="34" charset="-120"/>
              </a:rPr>
              <a:t>filings, rNPV</a:t>
            </a:r>
            <a:endParaRPr lang="en-US" sz="950" dirty="0"/>
          </a:p>
        </p:txBody>
      </p:sp>
      <p:sp>
        <p:nvSpPr>
          <p:cNvPr id="18" name="Shape 16"/>
          <p:cNvSpPr/>
          <p:nvPr/>
        </p:nvSpPr>
        <p:spPr>
          <a:xfrm>
            <a:off x="4206240" y="2468880"/>
            <a:ext cx="502920" cy="768096"/>
          </a:xfrm>
          <a:prstGeom prst="line">
            <a:avLst/>
          </a:prstGeom>
          <a:noFill/>
          <a:ln w="12700">
            <a:solidFill>
              <a:srgbClr val="1E2761"/>
            </a:solidFill>
            <a:prstDash val="dash"/>
          </a:ln>
        </p:spPr>
      </p:sp>
      <p:sp>
        <p:nvSpPr>
          <p:cNvPr id="19" name="Shape 17"/>
          <p:cNvSpPr/>
          <p:nvPr/>
        </p:nvSpPr>
        <p:spPr>
          <a:xfrm>
            <a:off x="6629400" y="1682496"/>
            <a:ext cx="182880" cy="0"/>
          </a:xfrm>
          <a:prstGeom prst="line">
            <a:avLst/>
          </a:prstGeom>
          <a:noFill/>
          <a:ln w="12700">
            <a:solidFill>
              <a:srgbClr val="5A6478"/>
            </a:solidFill>
            <a:prstDash val="dash"/>
          </a:ln>
        </p:spPr>
      </p:sp>
      <p:sp>
        <p:nvSpPr>
          <p:cNvPr id="20" name="Shape 18"/>
          <p:cNvSpPr/>
          <p:nvPr/>
        </p:nvSpPr>
        <p:spPr>
          <a:xfrm>
            <a:off x="6629400" y="2459736"/>
            <a:ext cx="182880" cy="0"/>
          </a:xfrm>
          <a:prstGeom prst="line">
            <a:avLst/>
          </a:prstGeom>
          <a:noFill/>
          <a:ln w="12700">
            <a:solidFill>
              <a:srgbClr val="5A6478"/>
            </a:solidFill>
            <a:prstDash val="dash"/>
          </a:ln>
        </p:spPr>
      </p:sp>
      <p:sp>
        <p:nvSpPr>
          <p:cNvPr id="21" name="Shape 19"/>
          <p:cNvSpPr/>
          <p:nvPr/>
        </p:nvSpPr>
        <p:spPr>
          <a:xfrm>
            <a:off x="6629400" y="3236976"/>
            <a:ext cx="182880" cy="0"/>
          </a:xfrm>
          <a:prstGeom prst="line">
            <a:avLst/>
          </a:prstGeom>
          <a:noFill/>
          <a:ln w="12700">
            <a:solidFill>
              <a:srgbClr val="5A6478"/>
            </a:solidFill>
            <a:prstDash val="dash"/>
          </a:ln>
        </p:spPr>
      </p:sp>
      <p:sp>
        <p:nvSpPr>
          <p:cNvPr id="22" name="Shape 20"/>
          <p:cNvSpPr/>
          <p:nvPr/>
        </p:nvSpPr>
        <p:spPr>
          <a:xfrm>
            <a:off x="6812280" y="1682496"/>
            <a:ext cx="0" cy="2231136"/>
          </a:xfrm>
          <a:prstGeom prst="line">
            <a:avLst/>
          </a:prstGeom>
          <a:noFill/>
          <a:ln w="12700">
            <a:solidFill>
              <a:srgbClr val="5A6478"/>
            </a:solidFill>
            <a:prstDash val="dash"/>
          </a:ln>
        </p:spPr>
      </p:sp>
      <p:sp>
        <p:nvSpPr>
          <p:cNvPr id="23" name="Text 21"/>
          <p:cNvSpPr/>
          <p:nvPr/>
        </p:nvSpPr>
        <p:spPr>
          <a:xfrm>
            <a:off x="4709160" y="3584448"/>
            <a:ext cx="1920240" cy="256032"/>
          </a:xfrm>
          <a:prstGeom prst="rect">
            <a:avLst/>
          </a:prstGeom>
          <a:noFill/>
          <a:ln/>
        </p:spPr>
        <p:txBody>
          <a:bodyPr wrap="square" lIns="0" tIns="0" rIns="0" bIns="0" rtlCol="0" anchor="ctr"/>
          <a:lstStyle/>
          <a:p>
            <a:pPr algn="ctr" indent="0" marL="0">
              <a:buNone/>
            </a:pPr>
            <a:r>
              <a:rPr lang="en-US" sz="750" i="1" dirty="0">
                <a:solidFill>
                  <a:srgbClr val="5A6478"/>
                </a:solidFill>
                <a:latin typeface="Calibri" pitchFamily="34" charset="0"/>
                <a:ea typeface="Calibri" pitchFamily="34" charset="-122"/>
                <a:cs typeface="Calibri" pitchFamily="34" charset="-120"/>
              </a:rPr>
              <a:t>+ MedIQ Agent · Events Agent · Other Agents</a:t>
            </a:r>
            <a:endParaRPr lang="en-US" sz="750" dirty="0"/>
          </a:p>
        </p:txBody>
      </p:sp>
      <p:sp>
        <p:nvSpPr>
          <p:cNvPr id="24" name="Shape 22"/>
          <p:cNvSpPr/>
          <p:nvPr/>
        </p:nvSpPr>
        <p:spPr>
          <a:xfrm>
            <a:off x="2331720" y="3913632"/>
            <a:ext cx="4709160" cy="603504"/>
          </a:xfrm>
          <a:prstGeom prst="roundRect">
            <a:avLst>
              <a:gd name="adj" fmla="val 9091"/>
            </a:avLst>
          </a:prstGeom>
          <a:solidFill>
            <a:srgbClr val="CADCFC"/>
          </a:solidFill>
          <a:ln w="12700">
            <a:solidFill>
              <a:srgbClr val="CADCFC"/>
            </a:solidFill>
            <a:prstDash val="solid"/>
          </a:ln>
          <a:effectLst>
            <a:outerShdw sx="100000" sy="100000" kx="0" ky="0" algn="bl" rotWithShape="0" blurRad="50800" dist="12700" dir="5400000">
              <a:srgbClr val="000000">
                <a:alpha val="10000"/>
              </a:srgbClr>
            </a:outerShdw>
          </a:effectLst>
        </p:spPr>
      </p:sp>
      <p:sp>
        <p:nvSpPr>
          <p:cNvPr id="25" name="Text 23"/>
          <p:cNvSpPr/>
          <p:nvPr/>
        </p:nvSpPr>
        <p:spPr>
          <a:xfrm>
            <a:off x="2331720" y="3913632"/>
            <a:ext cx="4709160" cy="603504"/>
          </a:xfrm>
          <a:prstGeom prst="rect">
            <a:avLst/>
          </a:prstGeom>
          <a:noFill/>
          <a:ln/>
        </p:spPr>
        <p:txBody>
          <a:bodyPr wrap="square" lIns="0" tIns="0" rIns="0" bIns="0" rtlCol="0" anchor="ctr"/>
          <a:lstStyle/>
          <a:p>
            <a:pPr algn="ctr" indent="0" marL="0">
              <a:buNone/>
            </a:pPr>
            <a:r>
              <a:rPr lang="en-US" sz="800" b="1" dirty="0">
                <a:solidFill>
                  <a:srgbClr val="1E2761"/>
                </a:solidFill>
                <a:latin typeface="Calibri" pitchFamily="34" charset="0"/>
                <a:ea typeface="Calibri" pitchFamily="34" charset="-122"/>
                <a:cs typeface="Calibri" pitchFamily="34" charset="-120"/>
              </a:rPr>
              <a:t>DATA SOURCES  ·  Claims (IQVIA · Komodo) · EHR (TriNetX) · ClinicalTrials.gov · FDA labels · SEC filings &amp; transcripts · Catalysts · Literature · Options volatility · Document store</a:t>
            </a:r>
            <a:endParaRPr lang="en-US" sz="800" dirty="0"/>
          </a:p>
        </p:txBody>
      </p:sp>
      <p:sp>
        <p:nvSpPr>
          <p:cNvPr id="26" name="Shape 24"/>
          <p:cNvSpPr/>
          <p:nvPr/>
        </p:nvSpPr>
        <p:spPr>
          <a:xfrm>
            <a:off x="2331720" y="4590288"/>
            <a:ext cx="4709160" cy="530352"/>
          </a:xfrm>
          <a:prstGeom prst="roundRect">
            <a:avLst>
              <a:gd name="adj" fmla="val 10345"/>
            </a:avLst>
          </a:prstGeom>
          <a:solidFill>
            <a:srgbClr val="4F6BA8"/>
          </a:solidFill>
          <a:ln w="12700">
            <a:solidFill>
              <a:srgbClr val="4F6BA8"/>
            </a:solidFill>
            <a:prstDash val="solid"/>
          </a:ln>
          <a:effectLst>
            <a:outerShdw sx="100000" sy="100000" kx="0" ky="0" algn="bl" rotWithShape="0" blurRad="50800" dist="12700" dir="5400000">
              <a:srgbClr val="000000">
                <a:alpha val="10000"/>
              </a:srgbClr>
            </a:outerShdw>
          </a:effectLst>
        </p:spPr>
      </p:sp>
      <p:sp>
        <p:nvSpPr>
          <p:cNvPr id="27" name="Text 25"/>
          <p:cNvSpPr/>
          <p:nvPr/>
        </p:nvSpPr>
        <p:spPr>
          <a:xfrm>
            <a:off x="2331720" y="4590288"/>
            <a:ext cx="4709160" cy="53035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TOOLS  ·  TAM funnel · rNPV / eNPV · PTS priors · Monte Carlo · Bayesian updater · Calibration scorer · VOI ranker · Citation verifier · Retrieval</a:t>
            </a:r>
            <a:endParaRPr lang="en-US" sz="800" dirty="0"/>
          </a:p>
        </p:txBody>
      </p:sp>
      <p:sp>
        <p:nvSpPr>
          <p:cNvPr id="28" name="Shape 26"/>
          <p:cNvSpPr/>
          <p:nvPr/>
        </p:nvSpPr>
        <p:spPr>
          <a:xfrm>
            <a:off x="2331720" y="5193792"/>
            <a:ext cx="4709160" cy="530352"/>
          </a:xfrm>
          <a:prstGeom prst="roundRect">
            <a:avLst>
              <a:gd name="adj" fmla="val 10345"/>
            </a:avLst>
          </a:prstGeom>
          <a:solidFill>
            <a:srgbClr val="EDEFF5"/>
          </a:solidFill>
          <a:ln w="15875">
            <a:solidFill>
              <a:srgbClr val="1E2761"/>
            </a:solidFill>
            <a:prstDash val="dash"/>
          </a:ln>
          <a:effectLst>
            <a:outerShdw sx="100000" sy="100000" kx="0" ky="0" algn="bl" rotWithShape="0" blurRad="50800" dist="12700" dir="5400000">
              <a:srgbClr val="000000">
                <a:alpha val="10000"/>
              </a:srgbClr>
            </a:outerShdw>
          </a:effectLst>
        </p:spPr>
      </p:sp>
      <p:sp>
        <p:nvSpPr>
          <p:cNvPr id="29" name="Text 27"/>
          <p:cNvSpPr/>
          <p:nvPr/>
        </p:nvSpPr>
        <p:spPr>
          <a:xfrm>
            <a:off x="2331720" y="5193792"/>
            <a:ext cx="4709160" cy="530352"/>
          </a:xfrm>
          <a:prstGeom prst="rect">
            <a:avLst/>
          </a:prstGeom>
          <a:noFill/>
          <a:ln/>
        </p:spPr>
        <p:txBody>
          <a:bodyPr wrap="square" lIns="0" tIns="0" rIns="0" bIns="0" rtlCol="0" anchor="ctr"/>
          <a:lstStyle/>
          <a:p>
            <a:pPr algn="ctr" indent="0" marL="0">
              <a:buNone/>
            </a:pPr>
            <a:r>
              <a:rPr lang="en-US" sz="800" b="1" dirty="0">
                <a:solidFill>
                  <a:srgbClr val="1E2761"/>
                </a:solidFill>
                <a:latin typeface="Calibri" pitchFamily="34" charset="0"/>
                <a:ea typeface="Calibri" pitchFamily="34" charset="-122"/>
                <a:cs typeface="Calibri" pitchFamily="34" charset="-120"/>
              </a:rPr>
              <a:t>SKILL SETS  ·  tam-funnel · rnpv-valuation · evidence-grading · citation-verify · thesis-template · catalyst-brief · uncertainty-reporting</a:t>
            </a:r>
            <a:endParaRPr lang="en-US" sz="800" dirty="0"/>
          </a:p>
        </p:txBody>
      </p:sp>
      <p:sp>
        <p:nvSpPr>
          <p:cNvPr id="30" name="Shape 28"/>
          <p:cNvSpPr/>
          <p:nvPr/>
        </p:nvSpPr>
        <p:spPr>
          <a:xfrm>
            <a:off x="8092440" y="1188720"/>
            <a:ext cx="3611880" cy="2148840"/>
          </a:xfrm>
          <a:prstGeom prst="roundRect">
            <a:avLst>
              <a:gd name="adj" fmla="val 2553"/>
            </a:avLst>
          </a:prstGeom>
          <a:solidFill>
            <a:srgbClr val="F4F6FA"/>
          </a:solidFill>
          <a:ln w="12700">
            <a:solidFill>
              <a:srgbClr val="DDE3EE"/>
            </a:solidFill>
            <a:prstDash val="solid"/>
          </a:ln>
        </p:spPr>
      </p:sp>
      <p:sp>
        <p:nvSpPr>
          <p:cNvPr id="31" name="Text 29"/>
          <p:cNvSpPr/>
          <p:nvPr/>
        </p:nvSpPr>
        <p:spPr>
          <a:xfrm>
            <a:off x="8293608" y="1307592"/>
            <a:ext cx="3209544" cy="274320"/>
          </a:xfrm>
          <a:prstGeom prst="rect">
            <a:avLst/>
          </a:prstGeom>
          <a:noFill/>
          <a:ln/>
        </p:spPr>
        <p:txBody>
          <a:bodyPr wrap="square" lIns="0" tIns="0" rIns="0" bIns="0" rtlCol="0" anchor="ctr"/>
          <a:lstStyle/>
          <a:p>
            <a:pPr indent="0" marL="0">
              <a:buNone/>
            </a:pPr>
            <a:r>
              <a:rPr lang="en-US" sz="1200" b="1" spc="120" kern="0" dirty="0">
                <a:solidFill>
                  <a:srgbClr val="1E2761"/>
                </a:solidFill>
                <a:latin typeface="Calibri" pitchFamily="34" charset="0"/>
                <a:ea typeface="Calibri" pitchFamily="34" charset="-122"/>
                <a:cs typeface="Calibri" pitchFamily="34" charset="-120"/>
              </a:rPr>
              <a:t>BENEFITS</a:t>
            </a:r>
            <a:endParaRPr lang="en-US" sz="1200" dirty="0"/>
          </a:p>
        </p:txBody>
      </p:sp>
      <p:sp>
        <p:nvSpPr>
          <p:cNvPr id="32" name="Text 30"/>
          <p:cNvSpPr/>
          <p:nvPr/>
        </p:nvSpPr>
        <p:spPr>
          <a:xfrm>
            <a:off x="8293608" y="1627632"/>
            <a:ext cx="3209544" cy="16002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Covers a real thesis, not one question</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Specialists improve in parallel</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One shared data, tool and skill layer</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House method versioned once, inherited by all</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Analyst still owns the question</a:t>
            </a:r>
            <a:endParaRPr lang="en-US" sz="1050" dirty="0"/>
          </a:p>
        </p:txBody>
      </p:sp>
      <p:sp>
        <p:nvSpPr>
          <p:cNvPr id="33" name="Shape 31"/>
          <p:cNvSpPr/>
          <p:nvPr/>
        </p:nvSpPr>
        <p:spPr>
          <a:xfrm>
            <a:off x="8092440" y="3520440"/>
            <a:ext cx="3611880" cy="2286000"/>
          </a:xfrm>
          <a:prstGeom prst="roundRect">
            <a:avLst>
              <a:gd name="adj" fmla="val 2400"/>
            </a:avLst>
          </a:prstGeom>
          <a:solidFill>
            <a:srgbClr val="FFFFFF"/>
          </a:solidFill>
          <a:ln w="15875">
            <a:solidFill>
              <a:srgbClr val="C8862A"/>
            </a:solidFill>
            <a:prstDash val="solid"/>
          </a:ln>
        </p:spPr>
      </p:sp>
      <p:sp>
        <p:nvSpPr>
          <p:cNvPr id="34" name="Text 32"/>
          <p:cNvSpPr/>
          <p:nvPr/>
        </p:nvSpPr>
        <p:spPr>
          <a:xfrm>
            <a:off x="8293608" y="3639312"/>
            <a:ext cx="3209544" cy="274320"/>
          </a:xfrm>
          <a:prstGeom prst="rect">
            <a:avLst/>
          </a:prstGeom>
          <a:noFill/>
          <a:ln/>
        </p:spPr>
        <p:txBody>
          <a:bodyPr wrap="square" lIns="0" tIns="0" rIns="0" bIns="0" rtlCol="0" anchor="ctr"/>
          <a:lstStyle/>
          <a:p>
            <a:pPr indent="0" marL="0">
              <a:buNone/>
            </a:pPr>
            <a:r>
              <a:rPr lang="en-US" sz="1200" b="1" spc="120" kern="0" dirty="0">
                <a:solidFill>
                  <a:srgbClr val="C8862A"/>
                </a:solidFill>
                <a:latin typeface="Calibri" pitchFamily="34" charset="0"/>
                <a:ea typeface="Calibri" pitchFamily="34" charset="-122"/>
                <a:cs typeface="Calibri" pitchFamily="34" charset="-120"/>
              </a:rPr>
              <a:t>LIMITATIONS</a:t>
            </a:r>
            <a:endParaRPr lang="en-US" sz="1200" dirty="0"/>
          </a:p>
        </p:txBody>
      </p:sp>
      <p:sp>
        <p:nvSpPr>
          <p:cNvPr id="35" name="Text 33"/>
          <p:cNvSpPr/>
          <p:nvPr/>
        </p:nvSpPr>
        <p:spPr>
          <a:xfrm>
            <a:off x="8293608" y="3959352"/>
            <a:ext cx="3209544" cy="17373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Emergent behaviour is hard to trace</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Cost and latency scale with fan-out</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Conflicting sub-agent answers need arbitration</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A wrong skill now propagates to every agent</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Nobody asks the questions nobody thought of</a:t>
            </a:r>
            <a:endParaRPr lang="en-US" sz="1050" dirty="0"/>
          </a:p>
        </p:txBody>
      </p:sp>
      <p:sp>
        <p:nvSpPr>
          <p:cNvPr id="36" name="Text 34"/>
          <p:cNvSpPr/>
          <p:nvPr/>
        </p:nvSpPr>
        <p:spPr>
          <a:xfrm>
            <a:off x="502920" y="6035040"/>
            <a:ext cx="11155680" cy="384048"/>
          </a:xfrm>
          <a:prstGeom prst="rect">
            <a:avLst/>
          </a:prstGeom>
          <a:noFill/>
          <a:ln/>
        </p:spPr>
        <p:txBody>
          <a:bodyPr wrap="square" lIns="0" tIns="0" rIns="0" bIns="0" rtlCol="0" anchor="ctr"/>
          <a:lstStyle/>
          <a:p>
            <a:pPr indent="0" marL="0">
              <a:buNone/>
            </a:pPr>
            <a:r>
              <a:rPr lang="en-US" sz="1200" b="1" dirty="0">
                <a:solidFill>
                  <a:srgbClr val="C8862A"/>
                </a:solidFill>
                <a:latin typeface="Calibri" pitchFamily="34" charset="0"/>
                <a:ea typeface="Calibri" pitchFamily="34" charset="-122"/>
                <a:cs typeface="Calibri" pitchFamily="34" charset="-120"/>
              </a:rPr>
              <a:t>→  </a:t>
            </a:r>
            <a:pPr indent="0" marL="0">
              <a:buNone/>
            </a:pPr>
            <a:r>
              <a:rPr lang="en-US" sz="1200" i="1" dirty="0">
                <a:solidFill>
                  <a:srgbClr val="1E2761"/>
                </a:solidFill>
                <a:latin typeface="Calibri" pitchFamily="34" charset="0"/>
                <a:ea typeface="Calibri" pitchFamily="34" charset="-122"/>
                <a:cs typeface="Calibri" pitchFamily="34" charset="-120"/>
              </a:rPr>
              <a:t>The system answers what it is asked. It cannot notice a readout, a filing, or a label change on its own. Stage 4 removes the human trigger.</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274320"/>
            <a:ext cx="9692640" cy="65836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Stage 4 — Automated</a:t>
            </a:r>
            <a:endParaRPr lang="en-US" sz="3000" dirty="0"/>
          </a:p>
        </p:txBody>
      </p:sp>
      <p:sp>
        <p:nvSpPr>
          <p:cNvPr id="3" name="Shape 1"/>
          <p:cNvSpPr/>
          <p:nvPr/>
        </p:nvSpPr>
        <p:spPr>
          <a:xfrm>
            <a:off x="11109960" y="347472"/>
            <a:ext cx="548640" cy="548640"/>
          </a:xfrm>
          <a:prstGeom prst="ellipse">
            <a:avLst/>
          </a:prstGeom>
          <a:solidFill>
            <a:srgbClr val="1E2761"/>
          </a:solidFill>
          <a:ln/>
        </p:spPr>
      </p:sp>
      <p:sp>
        <p:nvSpPr>
          <p:cNvPr id="4" name="Text 2"/>
          <p:cNvSpPr/>
          <p:nvPr/>
        </p:nvSpPr>
        <p:spPr>
          <a:xfrm>
            <a:off x="11109960" y="347472"/>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5" name="Shape 3"/>
          <p:cNvSpPr/>
          <p:nvPr/>
        </p:nvSpPr>
        <p:spPr>
          <a:xfrm>
            <a:off x="548640" y="1554480"/>
            <a:ext cx="1325880" cy="658368"/>
          </a:xfrm>
          <a:prstGeom prst="roundRect">
            <a:avLst>
              <a:gd name="adj" fmla="val 8333"/>
            </a:avLst>
          </a:prstGeom>
          <a:solidFill>
            <a:srgbClr val="C8862A"/>
          </a:solidFill>
          <a:ln w="12700">
            <a:solidFill>
              <a:srgbClr val="C8862A"/>
            </a:solidFill>
            <a:prstDash val="solid"/>
          </a:ln>
          <a:effectLst>
            <a:outerShdw sx="100000" sy="100000" kx="0" ky="0" algn="bl" rotWithShape="0" blurRad="50800" dist="12700" dir="5400000">
              <a:srgbClr val="000000">
                <a:alpha val="10000"/>
              </a:srgbClr>
            </a:outerShdw>
          </a:effectLst>
        </p:spPr>
      </p:sp>
      <p:sp>
        <p:nvSpPr>
          <p:cNvPr id="6" name="Text 4"/>
          <p:cNvSpPr/>
          <p:nvPr/>
        </p:nvSpPr>
        <p:spPr>
          <a:xfrm>
            <a:off x="548640" y="1554480"/>
            <a:ext cx="1325880" cy="658368"/>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Scheduler</a:t>
            </a:r>
            <a:endParaRPr lang="en-US" sz="900" dirty="0"/>
          </a:p>
          <a:p>
            <a:pPr algn="ctr" indent="0" marL="0">
              <a:buNone/>
            </a:pPr>
            <a:r>
              <a:rPr lang="en-US" sz="700" i="1" dirty="0">
                <a:solidFill>
                  <a:srgbClr val="FFFFFF"/>
                </a:solidFill>
                <a:latin typeface="Calibri" pitchFamily="34" charset="0"/>
                <a:ea typeface="Calibri" pitchFamily="34" charset="-122"/>
                <a:cs typeface="Calibri" pitchFamily="34" charset="-120"/>
              </a:rPr>
              <a:t>weekly / quarterly</a:t>
            </a:r>
            <a:endParaRPr lang="en-US" sz="900" dirty="0"/>
          </a:p>
        </p:txBody>
      </p:sp>
      <p:sp>
        <p:nvSpPr>
          <p:cNvPr id="7" name="Shape 5"/>
          <p:cNvSpPr/>
          <p:nvPr/>
        </p:nvSpPr>
        <p:spPr>
          <a:xfrm>
            <a:off x="548640" y="2487168"/>
            <a:ext cx="1325880" cy="804672"/>
          </a:xfrm>
          <a:prstGeom prst="roundRect">
            <a:avLst>
              <a:gd name="adj" fmla="val 6818"/>
            </a:avLst>
          </a:prstGeom>
          <a:solidFill>
            <a:srgbClr val="1E2761"/>
          </a:solidFill>
          <a:ln w="12700">
            <a:solidFill>
              <a:srgbClr val="1E2761"/>
            </a:solidFill>
            <a:prstDash val="solid"/>
          </a:ln>
          <a:effectLst>
            <a:outerShdw sx="100000" sy="100000" kx="0" ky="0" algn="bl" rotWithShape="0" blurRad="50800" dist="12700" dir="5400000">
              <a:srgbClr val="000000">
                <a:alpha val="10000"/>
              </a:srgbClr>
            </a:outerShdw>
          </a:effectLst>
        </p:spPr>
      </p:sp>
      <p:sp>
        <p:nvSpPr>
          <p:cNvPr id="8" name="Text 6"/>
          <p:cNvSpPr/>
          <p:nvPr/>
        </p:nvSpPr>
        <p:spPr>
          <a:xfrm>
            <a:off x="548640" y="2487168"/>
            <a:ext cx="1325880" cy="8046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Events Agent</a:t>
            </a:r>
            <a:endParaRPr lang="en-US" sz="900" dirty="0"/>
          </a:p>
          <a:p>
            <a:pPr algn="ctr" indent="0" marL="0">
              <a:buNone/>
            </a:pPr>
            <a:r>
              <a:rPr lang="en-US" sz="700" i="1" dirty="0">
                <a:solidFill>
                  <a:srgbClr val="FFFFFF"/>
                </a:solidFill>
                <a:latin typeface="Calibri" pitchFamily="34" charset="0"/>
                <a:ea typeface="Calibri" pitchFamily="34" charset="-122"/>
                <a:cs typeface="Calibri" pitchFamily="34" charset="-120"/>
              </a:rPr>
              <a:t>catalysts · readouts</a:t>
            </a:r>
            <a:endParaRPr lang="en-US" sz="900" dirty="0"/>
          </a:p>
        </p:txBody>
      </p:sp>
      <p:sp>
        <p:nvSpPr>
          <p:cNvPr id="9" name="Shape 7"/>
          <p:cNvSpPr/>
          <p:nvPr/>
        </p:nvSpPr>
        <p:spPr>
          <a:xfrm>
            <a:off x="1920240" y="1883664"/>
            <a:ext cx="548640" cy="585216"/>
          </a:xfrm>
          <a:prstGeom prst="line">
            <a:avLst/>
          </a:prstGeom>
          <a:noFill/>
          <a:ln w="19050">
            <a:solidFill>
              <a:srgbClr val="1E2761"/>
            </a:solidFill>
            <a:prstDash val="solid"/>
            <a:headEnd type="none"/>
            <a:tailEnd type="triangle"/>
          </a:ln>
        </p:spPr>
      </p:sp>
      <p:sp>
        <p:nvSpPr>
          <p:cNvPr id="10" name="Shape 8"/>
          <p:cNvSpPr/>
          <p:nvPr/>
        </p:nvSpPr>
        <p:spPr>
          <a:xfrm>
            <a:off x="1920240" y="2889504"/>
            <a:ext cx="548640" cy="-420624"/>
          </a:xfrm>
          <a:prstGeom prst="line">
            <a:avLst/>
          </a:prstGeom>
          <a:noFill/>
          <a:ln w="19050">
            <a:solidFill>
              <a:srgbClr val="1E2761"/>
            </a:solidFill>
            <a:prstDash val="solid"/>
            <a:headEnd type="none"/>
            <a:tailEnd type="triangle"/>
          </a:ln>
        </p:spPr>
      </p:sp>
      <p:sp>
        <p:nvSpPr>
          <p:cNvPr id="11" name="Shape 9"/>
          <p:cNvSpPr/>
          <p:nvPr/>
        </p:nvSpPr>
        <p:spPr>
          <a:xfrm>
            <a:off x="2560320" y="2011680"/>
            <a:ext cx="1600200" cy="914400"/>
          </a:xfrm>
          <a:prstGeom prst="roundRect">
            <a:avLst>
              <a:gd name="adj" fmla="val 6000"/>
            </a:avLst>
          </a:prstGeom>
          <a:solidFill>
            <a:srgbClr val="1E2761"/>
          </a:solidFill>
          <a:ln w="12700">
            <a:solidFill>
              <a:srgbClr val="1E2761"/>
            </a:solidFill>
            <a:prstDash val="solid"/>
          </a:ln>
          <a:effectLst>
            <a:outerShdw sx="100000" sy="100000" kx="0" ky="0" algn="bl" rotWithShape="0" blurRad="50800" dist="12700" dir="5400000">
              <a:srgbClr val="000000">
                <a:alpha val="10000"/>
              </a:srgbClr>
            </a:outerShdw>
          </a:effectLst>
        </p:spPr>
      </p:sp>
      <p:sp>
        <p:nvSpPr>
          <p:cNvPr id="12" name="Text 10"/>
          <p:cNvSpPr/>
          <p:nvPr/>
        </p:nvSpPr>
        <p:spPr>
          <a:xfrm>
            <a:off x="2560320" y="2011680"/>
            <a:ext cx="1600200" cy="9144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Investment Case Agent</a:t>
            </a:r>
            <a:endParaRPr lang="en-US" sz="1000" dirty="0"/>
          </a:p>
        </p:txBody>
      </p:sp>
      <p:sp>
        <p:nvSpPr>
          <p:cNvPr id="13" name="Shape 11"/>
          <p:cNvSpPr/>
          <p:nvPr/>
        </p:nvSpPr>
        <p:spPr>
          <a:xfrm>
            <a:off x="4709160" y="1371600"/>
            <a:ext cx="1920240" cy="621792"/>
          </a:xfrm>
          <a:prstGeom prst="roundRect">
            <a:avLst>
              <a:gd name="adj" fmla="val 8824"/>
            </a:avLst>
          </a:prstGeom>
          <a:solidFill>
            <a:srgbClr val="1E2761"/>
          </a:solidFill>
          <a:ln w="12700">
            <a:solidFill>
              <a:srgbClr val="1E2761"/>
            </a:solidFill>
            <a:prstDash val="solid"/>
          </a:ln>
          <a:effectLst>
            <a:outerShdw sx="100000" sy="100000" kx="0" ky="0" algn="bl" rotWithShape="0" blurRad="50800" dist="12700" dir="5400000">
              <a:srgbClr val="000000">
                <a:alpha val="10000"/>
              </a:srgbClr>
            </a:outerShdw>
          </a:effectLst>
        </p:spPr>
      </p:sp>
      <p:sp>
        <p:nvSpPr>
          <p:cNvPr id="14" name="Text 12"/>
          <p:cNvSpPr/>
          <p:nvPr/>
        </p:nvSpPr>
        <p:spPr>
          <a:xfrm>
            <a:off x="4709160" y="1371600"/>
            <a:ext cx="1920240" cy="6217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RWE Agent</a:t>
            </a:r>
            <a:endParaRPr lang="en-US" sz="950" dirty="0"/>
          </a:p>
        </p:txBody>
      </p:sp>
      <p:sp>
        <p:nvSpPr>
          <p:cNvPr id="15" name="Shape 13"/>
          <p:cNvSpPr/>
          <p:nvPr/>
        </p:nvSpPr>
        <p:spPr>
          <a:xfrm>
            <a:off x="4206240" y="2468880"/>
            <a:ext cx="502920" cy="-786384"/>
          </a:xfrm>
          <a:prstGeom prst="line">
            <a:avLst/>
          </a:prstGeom>
          <a:noFill/>
          <a:ln w="12700">
            <a:solidFill>
              <a:srgbClr val="1E2761"/>
            </a:solidFill>
            <a:prstDash val="dash"/>
          </a:ln>
        </p:spPr>
      </p:sp>
      <p:sp>
        <p:nvSpPr>
          <p:cNvPr id="16" name="Shape 14"/>
          <p:cNvSpPr/>
          <p:nvPr/>
        </p:nvSpPr>
        <p:spPr>
          <a:xfrm>
            <a:off x="4709160" y="2148840"/>
            <a:ext cx="1920240" cy="621792"/>
          </a:xfrm>
          <a:prstGeom prst="roundRect">
            <a:avLst>
              <a:gd name="adj" fmla="val 8824"/>
            </a:avLst>
          </a:prstGeom>
          <a:solidFill>
            <a:srgbClr val="1E2761"/>
          </a:solidFill>
          <a:ln w="12700">
            <a:solidFill>
              <a:srgbClr val="1E2761"/>
            </a:solidFill>
            <a:prstDash val="solid"/>
          </a:ln>
          <a:effectLst>
            <a:outerShdw sx="100000" sy="100000" kx="0" ky="0" algn="bl" rotWithShape="0" blurRad="50800" dist="12700" dir="5400000">
              <a:srgbClr val="000000">
                <a:alpha val="10000"/>
              </a:srgbClr>
            </a:outerShdw>
          </a:effectLst>
        </p:spPr>
      </p:sp>
      <p:sp>
        <p:nvSpPr>
          <p:cNvPr id="17" name="Text 15"/>
          <p:cNvSpPr/>
          <p:nvPr/>
        </p:nvSpPr>
        <p:spPr>
          <a:xfrm>
            <a:off x="4709160" y="2148840"/>
            <a:ext cx="1920240" cy="6217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Clinical Trial Simulator</a:t>
            </a:r>
            <a:endParaRPr lang="en-US" sz="950" dirty="0"/>
          </a:p>
        </p:txBody>
      </p:sp>
      <p:sp>
        <p:nvSpPr>
          <p:cNvPr id="18" name="Shape 16"/>
          <p:cNvSpPr/>
          <p:nvPr/>
        </p:nvSpPr>
        <p:spPr>
          <a:xfrm>
            <a:off x="4206240" y="2468880"/>
            <a:ext cx="502920" cy="-9144"/>
          </a:xfrm>
          <a:prstGeom prst="line">
            <a:avLst/>
          </a:prstGeom>
          <a:noFill/>
          <a:ln w="12700">
            <a:solidFill>
              <a:srgbClr val="1E2761"/>
            </a:solidFill>
            <a:prstDash val="dash"/>
          </a:ln>
        </p:spPr>
      </p:sp>
      <p:sp>
        <p:nvSpPr>
          <p:cNvPr id="19" name="Shape 17"/>
          <p:cNvSpPr/>
          <p:nvPr/>
        </p:nvSpPr>
        <p:spPr>
          <a:xfrm>
            <a:off x="4709160" y="2926080"/>
            <a:ext cx="1920240" cy="621792"/>
          </a:xfrm>
          <a:prstGeom prst="roundRect">
            <a:avLst>
              <a:gd name="adj" fmla="val 8824"/>
            </a:avLst>
          </a:prstGeom>
          <a:solidFill>
            <a:srgbClr val="1E2761"/>
          </a:solidFill>
          <a:ln w="12700">
            <a:solidFill>
              <a:srgbClr val="1E2761"/>
            </a:solidFill>
            <a:prstDash val="solid"/>
          </a:ln>
          <a:effectLst>
            <a:outerShdw sx="100000" sy="100000" kx="0" ky="0" algn="bl" rotWithShape="0" blurRad="50800" dist="12700" dir="5400000">
              <a:srgbClr val="000000">
                <a:alpha val="10000"/>
              </a:srgbClr>
            </a:outerShdw>
          </a:effectLst>
        </p:spPr>
      </p:sp>
      <p:sp>
        <p:nvSpPr>
          <p:cNvPr id="20" name="Text 18"/>
          <p:cNvSpPr/>
          <p:nvPr/>
        </p:nvSpPr>
        <p:spPr>
          <a:xfrm>
            <a:off x="4709160" y="2926080"/>
            <a:ext cx="1920240" cy="621792"/>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Financial Model Agent</a:t>
            </a:r>
            <a:endParaRPr lang="en-US" sz="950" dirty="0"/>
          </a:p>
        </p:txBody>
      </p:sp>
      <p:sp>
        <p:nvSpPr>
          <p:cNvPr id="21" name="Shape 19"/>
          <p:cNvSpPr/>
          <p:nvPr/>
        </p:nvSpPr>
        <p:spPr>
          <a:xfrm>
            <a:off x="4206240" y="2468880"/>
            <a:ext cx="502920" cy="768096"/>
          </a:xfrm>
          <a:prstGeom prst="line">
            <a:avLst/>
          </a:prstGeom>
          <a:noFill/>
          <a:ln w="12700">
            <a:solidFill>
              <a:srgbClr val="1E2761"/>
            </a:solidFill>
            <a:prstDash val="dash"/>
          </a:ln>
        </p:spPr>
      </p:sp>
      <p:sp>
        <p:nvSpPr>
          <p:cNvPr id="22" name="Shape 20"/>
          <p:cNvSpPr/>
          <p:nvPr/>
        </p:nvSpPr>
        <p:spPr>
          <a:xfrm>
            <a:off x="6629400" y="1682496"/>
            <a:ext cx="182880" cy="0"/>
          </a:xfrm>
          <a:prstGeom prst="line">
            <a:avLst/>
          </a:prstGeom>
          <a:noFill/>
          <a:ln w="12700">
            <a:solidFill>
              <a:srgbClr val="5A6478"/>
            </a:solidFill>
            <a:prstDash val="dash"/>
          </a:ln>
        </p:spPr>
      </p:sp>
      <p:sp>
        <p:nvSpPr>
          <p:cNvPr id="23" name="Shape 21"/>
          <p:cNvSpPr/>
          <p:nvPr/>
        </p:nvSpPr>
        <p:spPr>
          <a:xfrm>
            <a:off x="6629400" y="2459736"/>
            <a:ext cx="182880" cy="0"/>
          </a:xfrm>
          <a:prstGeom prst="line">
            <a:avLst/>
          </a:prstGeom>
          <a:noFill/>
          <a:ln w="12700">
            <a:solidFill>
              <a:srgbClr val="5A6478"/>
            </a:solidFill>
            <a:prstDash val="dash"/>
          </a:ln>
        </p:spPr>
      </p:sp>
      <p:sp>
        <p:nvSpPr>
          <p:cNvPr id="24" name="Shape 22"/>
          <p:cNvSpPr/>
          <p:nvPr/>
        </p:nvSpPr>
        <p:spPr>
          <a:xfrm>
            <a:off x="6629400" y="3236976"/>
            <a:ext cx="182880" cy="0"/>
          </a:xfrm>
          <a:prstGeom prst="line">
            <a:avLst/>
          </a:prstGeom>
          <a:noFill/>
          <a:ln w="12700">
            <a:solidFill>
              <a:srgbClr val="5A6478"/>
            </a:solidFill>
            <a:prstDash val="dash"/>
          </a:ln>
        </p:spPr>
      </p:sp>
      <p:sp>
        <p:nvSpPr>
          <p:cNvPr id="25" name="Shape 23"/>
          <p:cNvSpPr/>
          <p:nvPr/>
        </p:nvSpPr>
        <p:spPr>
          <a:xfrm>
            <a:off x="6812280" y="1682496"/>
            <a:ext cx="0" cy="2231136"/>
          </a:xfrm>
          <a:prstGeom prst="line">
            <a:avLst/>
          </a:prstGeom>
          <a:noFill/>
          <a:ln w="12700">
            <a:solidFill>
              <a:srgbClr val="5A6478"/>
            </a:solidFill>
            <a:prstDash val="dash"/>
          </a:ln>
        </p:spPr>
      </p:sp>
      <p:sp>
        <p:nvSpPr>
          <p:cNvPr id="26" name="Shape 24"/>
          <p:cNvSpPr/>
          <p:nvPr/>
        </p:nvSpPr>
        <p:spPr>
          <a:xfrm>
            <a:off x="2331720" y="3913632"/>
            <a:ext cx="4709160" cy="603504"/>
          </a:xfrm>
          <a:prstGeom prst="roundRect">
            <a:avLst>
              <a:gd name="adj" fmla="val 9091"/>
            </a:avLst>
          </a:prstGeom>
          <a:solidFill>
            <a:srgbClr val="CADCFC"/>
          </a:solidFill>
          <a:ln w="12700">
            <a:solidFill>
              <a:srgbClr val="CADCFC"/>
            </a:solidFill>
            <a:prstDash val="solid"/>
          </a:ln>
          <a:effectLst>
            <a:outerShdw sx="100000" sy="100000" kx="0" ky="0" algn="bl" rotWithShape="0" blurRad="50800" dist="12700" dir="5400000">
              <a:srgbClr val="000000">
                <a:alpha val="10000"/>
              </a:srgbClr>
            </a:outerShdw>
          </a:effectLst>
        </p:spPr>
      </p:sp>
      <p:sp>
        <p:nvSpPr>
          <p:cNvPr id="27" name="Text 25"/>
          <p:cNvSpPr/>
          <p:nvPr/>
        </p:nvSpPr>
        <p:spPr>
          <a:xfrm>
            <a:off x="2331720" y="3913632"/>
            <a:ext cx="4709160" cy="603504"/>
          </a:xfrm>
          <a:prstGeom prst="rect">
            <a:avLst/>
          </a:prstGeom>
          <a:noFill/>
          <a:ln/>
        </p:spPr>
        <p:txBody>
          <a:bodyPr wrap="square" lIns="0" tIns="0" rIns="0" bIns="0" rtlCol="0" anchor="ctr"/>
          <a:lstStyle/>
          <a:p>
            <a:pPr algn="ctr" indent="0" marL="0">
              <a:buNone/>
            </a:pPr>
            <a:r>
              <a:rPr lang="en-US" sz="800" b="1" dirty="0">
                <a:solidFill>
                  <a:srgbClr val="1E2761"/>
                </a:solidFill>
                <a:latin typeface="Calibri" pitchFamily="34" charset="0"/>
                <a:ea typeface="Calibri" pitchFamily="34" charset="-122"/>
                <a:cs typeface="Calibri" pitchFamily="34" charset="-120"/>
              </a:rPr>
              <a:t>DATA SOURCES  ·  Claims (IQVIA · Komodo) · EHR (TriNetX) · ClinicalTrials.gov · FDA labels · SEC filings &amp; transcripts · Catalysts · Literature · Options volatility · Document store</a:t>
            </a:r>
            <a:endParaRPr lang="en-US" sz="800" dirty="0"/>
          </a:p>
        </p:txBody>
      </p:sp>
      <p:sp>
        <p:nvSpPr>
          <p:cNvPr id="28" name="Shape 26"/>
          <p:cNvSpPr/>
          <p:nvPr/>
        </p:nvSpPr>
        <p:spPr>
          <a:xfrm>
            <a:off x="2331720" y="4590288"/>
            <a:ext cx="4709160" cy="530352"/>
          </a:xfrm>
          <a:prstGeom prst="roundRect">
            <a:avLst>
              <a:gd name="adj" fmla="val 10345"/>
            </a:avLst>
          </a:prstGeom>
          <a:solidFill>
            <a:srgbClr val="4F6BA8"/>
          </a:solidFill>
          <a:ln w="12700">
            <a:solidFill>
              <a:srgbClr val="4F6BA8"/>
            </a:solidFill>
            <a:prstDash val="solid"/>
          </a:ln>
          <a:effectLst>
            <a:outerShdw sx="100000" sy="100000" kx="0" ky="0" algn="bl" rotWithShape="0" blurRad="50800" dist="12700" dir="5400000">
              <a:srgbClr val="000000">
                <a:alpha val="10000"/>
              </a:srgbClr>
            </a:outerShdw>
          </a:effectLst>
        </p:spPr>
      </p:sp>
      <p:sp>
        <p:nvSpPr>
          <p:cNvPr id="29" name="Text 27"/>
          <p:cNvSpPr/>
          <p:nvPr/>
        </p:nvSpPr>
        <p:spPr>
          <a:xfrm>
            <a:off x="2331720" y="4590288"/>
            <a:ext cx="4709160" cy="530352"/>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TOOLS  ·  TAM funnel · rNPV / eNPV · PTS priors · Monte Carlo · Bayesian updater · Calibration scorer · VOI ranker · Citation verifier · Retrieval</a:t>
            </a:r>
            <a:endParaRPr lang="en-US" sz="800" dirty="0"/>
          </a:p>
        </p:txBody>
      </p:sp>
      <p:sp>
        <p:nvSpPr>
          <p:cNvPr id="30" name="Shape 28"/>
          <p:cNvSpPr/>
          <p:nvPr/>
        </p:nvSpPr>
        <p:spPr>
          <a:xfrm>
            <a:off x="2331720" y="5193792"/>
            <a:ext cx="4709160" cy="530352"/>
          </a:xfrm>
          <a:prstGeom prst="roundRect">
            <a:avLst>
              <a:gd name="adj" fmla="val 10345"/>
            </a:avLst>
          </a:prstGeom>
          <a:solidFill>
            <a:srgbClr val="EDEFF5"/>
          </a:solidFill>
          <a:ln w="15875">
            <a:solidFill>
              <a:srgbClr val="1E2761"/>
            </a:solidFill>
            <a:prstDash val="dash"/>
          </a:ln>
          <a:effectLst>
            <a:outerShdw sx="100000" sy="100000" kx="0" ky="0" algn="bl" rotWithShape="0" blurRad="50800" dist="12700" dir="5400000">
              <a:srgbClr val="000000">
                <a:alpha val="10000"/>
              </a:srgbClr>
            </a:outerShdw>
          </a:effectLst>
        </p:spPr>
      </p:sp>
      <p:sp>
        <p:nvSpPr>
          <p:cNvPr id="31" name="Text 29"/>
          <p:cNvSpPr/>
          <p:nvPr/>
        </p:nvSpPr>
        <p:spPr>
          <a:xfrm>
            <a:off x="2331720" y="5193792"/>
            <a:ext cx="4709160" cy="530352"/>
          </a:xfrm>
          <a:prstGeom prst="rect">
            <a:avLst/>
          </a:prstGeom>
          <a:noFill/>
          <a:ln/>
        </p:spPr>
        <p:txBody>
          <a:bodyPr wrap="square" lIns="0" tIns="0" rIns="0" bIns="0" rtlCol="0" anchor="ctr"/>
          <a:lstStyle/>
          <a:p>
            <a:pPr algn="ctr" indent="0" marL="0">
              <a:buNone/>
            </a:pPr>
            <a:r>
              <a:rPr lang="en-US" sz="800" b="1" dirty="0">
                <a:solidFill>
                  <a:srgbClr val="1E2761"/>
                </a:solidFill>
                <a:latin typeface="Calibri" pitchFamily="34" charset="0"/>
                <a:ea typeface="Calibri" pitchFamily="34" charset="-122"/>
                <a:cs typeface="Calibri" pitchFamily="34" charset="-120"/>
              </a:rPr>
              <a:t>SKILL SETS  ·  tam-funnel · rnpv-valuation · evidence-grading · citation-verify · thesis-template · catalyst-brief · uncertainty-reporting</a:t>
            </a:r>
            <a:endParaRPr lang="en-US" sz="800" dirty="0"/>
          </a:p>
        </p:txBody>
      </p:sp>
      <p:sp>
        <p:nvSpPr>
          <p:cNvPr id="32" name="Shape 30"/>
          <p:cNvSpPr/>
          <p:nvPr/>
        </p:nvSpPr>
        <p:spPr>
          <a:xfrm>
            <a:off x="548640" y="5074920"/>
            <a:ext cx="1325880" cy="530352"/>
          </a:xfrm>
          <a:prstGeom prst="roundRect">
            <a:avLst>
              <a:gd name="adj" fmla="val 6897"/>
            </a:avLst>
          </a:prstGeom>
          <a:solidFill>
            <a:srgbClr val="FFFFFF"/>
          </a:solidFill>
          <a:ln w="12700">
            <a:solidFill>
              <a:srgbClr val="1E2761"/>
            </a:solidFill>
            <a:prstDash val="solid"/>
          </a:ln>
        </p:spPr>
      </p:sp>
      <p:sp>
        <p:nvSpPr>
          <p:cNvPr id="33" name="Shape 31"/>
          <p:cNvSpPr/>
          <p:nvPr/>
        </p:nvSpPr>
        <p:spPr>
          <a:xfrm>
            <a:off x="640080" y="4992624"/>
            <a:ext cx="1325880" cy="530352"/>
          </a:xfrm>
          <a:prstGeom prst="roundRect">
            <a:avLst>
              <a:gd name="adj" fmla="val 6897"/>
            </a:avLst>
          </a:prstGeom>
          <a:solidFill>
            <a:srgbClr val="FFFFFF"/>
          </a:solidFill>
          <a:ln w="12700">
            <a:solidFill>
              <a:srgbClr val="1E2761"/>
            </a:solidFill>
            <a:prstDash val="solid"/>
          </a:ln>
        </p:spPr>
      </p:sp>
      <p:sp>
        <p:nvSpPr>
          <p:cNvPr id="34" name="Shape 32"/>
          <p:cNvSpPr/>
          <p:nvPr/>
        </p:nvSpPr>
        <p:spPr>
          <a:xfrm>
            <a:off x="731520" y="4910328"/>
            <a:ext cx="1325880" cy="530352"/>
          </a:xfrm>
          <a:prstGeom prst="roundRect">
            <a:avLst>
              <a:gd name="adj" fmla="val 6897"/>
            </a:avLst>
          </a:prstGeom>
          <a:solidFill>
            <a:srgbClr val="FFFFFF"/>
          </a:solidFill>
          <a:ln w="12700">
            <a:solidFill>
              <a:srgbClr val="1E2761"/>
            </a:solidFill>
            <a:prstDash val="solid"/>
          </a:ln>
        </p:spPr>
      </p:sp>
      <p:sp>
        <p:nvSpPr>
          <p:cNvPr id="35" name="Text 33"/>
          <p:cNvSpPr/>
          <p:nvPr/>
        </p:nvSpPr>
        <p:spPr>
          <a:xfrm>
            <a:off x="731520" y="4910328"/>
            <a:ext cx="1325880" cy="530352"/>
          </a:xfrm>
          <a:prstGeom prst="rect">
            <a:avLst/>
          </a:prstGeom>
          <a:noFill/>
          <a:ln/>
        </p:spPr>
        <p:txBody>
          <a:bodyPr wrap="square" lIns="0" tIns="0" rIns="0" bIns="0" rtlCol="0" anchor="ctr"/>
          <a:lstStyle/>
          <a:p>
            <a:pPr algn="ctr" indent="0" marL="0">
              <a:buNone/>
            </a:pPr>
            <a:r>
              <a:rPr lang="en-US" sz="800" b="1" dirty="0">
                <a:solidFill>
                  <a:srgbClr val="1E2761"/>
                </a:solidFill>
                <a:latin typeface="Calibri" pitchFamily="34" charset="0"/>
                <a:ea typeface="Calibri" pitchFamily="34" charset="-122"/>
                <a:cs typeface="Calibri" pitchFamily="34" charset="-120"/>
              </a:rPr>
              <a:t>Investment Theses</a:t>
            </a:r>
            <a:endParaRPr lang="en-US" sz="800" dirty="0"/>
          </a:p>
          <a:p>
            <a:pPr algn="ctr" indent="0" marL="0">
              <a:buNone/>
            </a:pPr>
            <a:r>
              <a:rPr lang="en-US" sz="800" b="1" dirty="0">
                <a:solidFill>
                  <a:srgbClr val="1E2761"/>
                </a:solidFill>
                <a:latin typeface="Calibri" pitchFamily="34" charset="0"/>
                <a:ea typeface="Calibri" pitchFamily="34" charset="-122"/>
                <a:cs typeface="Calibri" pitchFamily="34" charset="-120"/>
              </a:rPr>
              <a:t>× N companies</a:t>
            </a:r>
            <a:endParaRPr lang="en-US" sz="800" dirty="0"/>
          </a:p>
        </p:txBody>
      </p:sp>
      <p:sp>
        <p:nvSpPr>
          <p:cNvPr id="36" name="Shape 34"/>
          <p:cNvSpPr/>
          <p:nvPr/>
        </p:nvSpPr>
        <p:spPr>
          <a:xfrm>
            <a:off x="2560320" y="2971800"/>
            <a:ext cx="-1097280" cy="1874520"/>
          </a:xfrm>
          <a:prstGeom prst="line">
            <a:avLst/>
          </a:prstGeom>
          <a:noFill/>
          <a:ln w="12700">
            <a:solidFill>
              <a:srgbClr val="1E2761"/>
            </a:solidFill>
            <a:prstDash val="dash"/>
          </a:ln>
        </p:spPr>
      </p:sp>
      <p:sp>
        <p:nvSpPr>
          <p:cNvPr id="37" name="Shape 35"/>
          <p:cNvSpPr/>
          <p:nvPr/>
        </p:nvSpPr>
        <p:spPr>
          <a:xfrm>
            <a:off x="8092440" y="1188720"/>
            <a:ext cx="3611880" cy="2148840"/>
          </a:xfrm>
          <a:prstGeom prst="roundRect">
            <a:avLst>
              <a:gd name="adj" fmla="val 2553"/>
            </a:avLst>
          </a:prstGeom>
          <a:solidFill>
            <a:srgbClr val="F4F6FA"/>
          </a:solidFill>
          <a:ln w="12700">
            <a:solidFill>
              <a:srgbClr val="DDE3EE"/>
            </a:solidFill>
            <a:prstDash val="solid"/>
          </a:ln>
        </p:spPr>
      </p:sp>
      <p:sp>
        <p:nvSpPr>
          <p:cNvPr id="38" name="Text 36"/>
          <p:cNvSpPr/>
          <p:nvPr/>
        </p:nvSpPr>
        <p:spPr>
          <a:xfrm>
            <a:off x="8293608" y="1307592"/>
            <a:ext cx="3209544" cy="274320"/>
          </a:xfrm>
          <a:prstGeom prst="rect">
            <a:avLst/>
          </a:prstGeom>
          <a:noFill/>
          <a:ln/>
        </p:spPr>
        <p:txBody>
          <a:bodyPr wrap="square" lIns="0" tIns="0" rIns="0" bIns="0" rtlCol="0" anchor="ctr"/>
          <a:lstStyle/>
          <a:p>
            <a:pPr indent="0" marL="0">
              <a:buNone/>
            </a:pPr>
            <a:r>
              <a:rPr lang="en-US" sz="1200" b="1" spc="120" kern="0" dirty="0">
                <a:solidFill>
                  <a:srgbClr val="1E2761"/>
                </a:solidFill>
                <a:latin typeface="Calibri" pitchFamily="34" charset="0"/>
                <a:ea typeface="Calibri" pitchFamily="34" charset="-122"/>
                <a:cs typeface="Calibri" pitchFamily="34" charset="-120"/>
              </a:rPr>
              <a:t>BENEFITS</a:t>
            </a:r>
            <a:endParaRPr lang="en-US" sz="1200" dirty="0"/>
          </a:p>
        </p:txBody>
      </p:sp>
      <p:sp>
        <p:nvSpPr>
          <p:cNvPr id="39" name="Text 37"/>
          <p:cNvSpPr/>
          <p:nvPr/>
        </p:nvSpPr>
        <p:spPr>
          <a:xfrm>
            <a:off x="8293608" y="1627632"/>
            <a:ext cx="3209544" cy="16002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Coverage of the whole portfolio, continuously</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Reacts to events, not to attention</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Marginal cost per company ≈ 0</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Every thesis built from the same skill set</a:t>
            </a:r>
            <a:endParaRPr lang="en-US" sz="1050" dirty="0"/>
          </a:p>
        </p:txBody>
      </p:sp>
      <p:sp>
        <p:nvSpPr>
          <p:cNvPr id="40" name="Shape 38"/>
          <p:cNvSpPr/>
          <p:nvPr/>
        </p:nvSpPr>
        <p:spPr>
          <a:xfrm>
            <a:off x="8092440" y="3520440"/>
            <a:ext cx="3611880" cy="2286000"/>
          </a:xfrm>
          <a:prstGeom prst="roundRect">
            <a:avLst>
              <a:gd name="adj" fmla="val 2400"/>
            </a:avLst>
          </a:prstGeom>
          <a:solidFill>
            <a:srgbClr val="FFFFFF"/>
          </a:solidFill>
          <a:ln w="15875">
            <a:solidFill>
              <a:srgbClr val="C8862A"/>
            </a:solidFill>
            <a:prstDash val="solid"/>
          </a:ln>
        </p:spPr>
      </p:sp>
      <p:sp>
        <p:nvSpPr>
          <p:cNvPr id="41" name="Text 39"/>
          <p:cNvSpPr/>
          <p:nvPr/>
        </p:nvSpPr>
        <p:spPr>
          <a:xfrm>
            <a:off x="8293608" y="3639312"/>
            <a:ext cx="3209544" cy="274320"/>
          </a:xfrm>
          <a:prstGeom prst="rect">
            <a:avLst/>
          </a:prstGeom>
          <a:noFill/>
          <a:ln/>
        </p:spPr>
        <p:txBody>
          <a:bodyPr wrap="square" lIns="0" tIns="0" rIns="0" bIns="0" rtlCol="0" anchor="ctr"/>
          <a:lstStyle/>
          <a:p>
            <a:pPr indent="0" marL="0">
              <a:buNone/>
            </a:pPr>
            <a:r>
              <a:rPr lang="en-US" sz="1200" b="1" spc="120" kern="0" dirty="0">
                <a:solidFill>
                  <a:srgbClr val="C8862A"/>
                </a:solidFill>
                <a:latin typeface="Calibri" pitchFamily="34" charset="0"/>
                <a:ea typeface="Calibri" pitchFamily="34" charset="-122"/>
                <a:cs typeface="Calibri" pitchFamily="34" charset="-120"/>
              </a:rPr>
              <a:t>LIMITATIONS</a:t>
            </a:r>
            <a:endParaRPr lang="en-US" sz="1200" dirty="0"/>
          </a:p>
        </p:txBody>
      </p:sp>
      <p:sp>
        <p:nvSpPr>
          <p:cNvPr id="42" name="Text 40"/>
          <p:cNvSpPr/>
          <p:nvPr/>
        </p:nvSpPr>
        <p:spPr>
          <a:xfrm>
            <a:off x="8293608" y="3959352"/>
            <a:ext cx="3209544" cy="17373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No human initiates → no adversarial reader</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A hallucinated citation now propagates, unread</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Silent staleness: inputs age invisibly</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Errors scale with N companies</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 Mitigation: evaluation layer (slide 7)</a:t>
            </a:r>
            <a:endParaRPr lang="en-US" sz="1050" dirty="0"/>
          </a:p>
        </p:txBody>
      </p:sp>
      <p:sp>
        <p:nvSpPr>
          <p:cNvPr id="43" name="Text 41"/>
          <p:cNvSpPr/>
          <p:nvPr/>
        </p:nvSpPr>
        <p:spPr>
          <a:xfrm>
            <a:off x="502920" y="6035040"/>
            <a:ext cx="11155680" cy="384048"/>
          </a:xfrm>
          <a:prstGeom prst="rect">
            <a:avLst/>
          </a:prstGeom>
          <a:noFill/>
          <a:ln/>
        </p:spPr>
        <p:txBody>
          <a:bodyPr wrap="square" lIns="0" tIns="0" rIns="0" bIns="0" rtlCol="0" anchor="ctr"/>
          <a:lstStyle/>
          <a:p>
            <a:pPr indent="0" marL="0">
              <a:buNone/>
            </a:pPr>
            <a:r>
              <a:rPr lang="en-US" sz="1200" b="1" dirty="0">
                <a:solidFill>
                  <a:srgbClr val="C8862A"/>
                </a:solidFill>
                <a:latin typeface="Calibri" pitchFamily="34" charset="0"/>
                <a:ea typeface="Calibri" pitchFamily="34" charset="-122"/>
                <a:cs typeface="Calibri" pitchFamily="34" charset="-120"/>
              </a:rPr>
              <a:t>→  </a:t>
            </a:r>
            <a:pPr indent="0" marL="0">
              <a:buNone/>
            </a:pPr>
            <a:r>
              <a:rPr lang="en-US" sz="1200" i="1" dirty="0">
                <a:solidFill>
                  <a:srgbClr val="1E2761"/>
                </a:solidFill>
                <a:latin typeface="Calibri" pitchFamily="34" charset="0"/>
                <a:ea typeface="Calibri" pitchFamily="34" charset="-122"/>
                <a:cs typeface="Calibri" pitchFamily="34" charset="-120"/>
              </a:rPr>
              <a:t>Removing the human removed the person who noticed when it was wrong. Stage 5 makes the system know what it doesn't know.</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274320"/>
            <a:ext cx="9692640" cy="658368"/>
          </a:xfrm>
          <a:prstGeom prst="rect">
            <a:avLst/>
          </a:prstGeom>
          <a:noFill/>
          <a:ln/>
        </p:spPr>
        <p:txBody>
          <a:bodyPr wrap="square" lIns="0" tIns="0" rIns="0" bIns="0" rtlCol="0" anchor="ctr"/>
          <a:lstStyle/>
          <a:p>
            <a:pPr indent="0" marL="0">
              <a:buNone/>
            </a:pPr>
            <a:r>
              <a:rPr lang="en-US" sz="3000" b="1" dirty="0">
                <a:solidFill>
                  <a:srgbClr val="1E2761"/>
                </a:solidFill>
                <a:latin typeface="Cambria" pitchFamily="34" charset="0"/>
                <a:ea typeface="Cambria" pitchFamily="34" charset="-122"/>
                <a:cs typeface="Cambria" pitchFamily="34" charset="-120"/>
              </a:rPr>
              <a:t>Stage 5 — Uncertainty-aware + active sensing</a:t>
            </a:r>
            <a:endParaRPr lang="en-US" sz="3000" dirty="0"/>
          </a:p>
        </p:txBody>
      </p:sp>
      <p:sp>
        <p:nvSpPr>
          <p:cNvPr id="3" name="Shape 1"/>
          <p:cNvSpPr/>
          <p:nvPr/>
        </p:nvSpPr>
        <p:spPr>
          <a:xfrm>
            <a:off x="11109960" y="347472"/>
            <a:ext cx="548640" cy="548640"/>
          </a:xfrm>
          <a:prstGeom prst="ellipse">
            <a:avLst/>
          </a:prstGeom>
          <a:solidFill>
            <a:srgbClr val="1E2761"/>
          </a:solidFill>
          <a:ln/>
        </p:spPr>
      </p:sp>
      <p:sp>
        <p:nvSpPr>
          <p:cNvPr id="4" name="Text 2"/>
          <p:cNvSpPr/>
          <p:nvPr/>
        </p:nvSpPr>
        <p:spPr>
          <a:xfrm>
            <a:off x="11109960" y="347472"/>
            <a:ext cx="548640" cy="54864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5</a:t>
            </a:r>
            <a:endParaRPr lang="en-US" sz="1700" dirty="0"/>
          </a:p>
        </p:txBody>
      </p:sp>
      <p:sp>
        <p:nvSpPr>
          <p:cNvPr id="5" name="Shape 3"/>
          <p:cNvSpPr/>
          <p:nvPr/>
        </p:nvSpPr>
        <p:spPr>
          <a:xfrm>
            <a:off x="548640" y="1920240"/>
            <a:ext cx="1325880" cy="822960"/>
          </a:xfrm>
          <a:prstGeom prst="roundRect">
            <a:avLst>
              <a:gd name="adj" fmla="val 6667"/>
            </a:avLst>
          </a:prstGeom>
          <a:solidFill>
            <a:srgbClr val="C8862A"/>
          </a:solidFill>
          <a:ln w="12700">
            <a:solidFill>
              <a:srgbClr val="C8862A"/>
            </a:solidFill>
            <a:prstDash val="solid"/>
          </a:ln>
          <a:effectLst>
            <a:outerShdw sx="100000" sy="100000" kx="0" ky="0" algn="bl" rotWithShape="0" blurRad="50800" dist="12700" dir="5400000">
              <a:srgbClr val="000000">
                <a:alpha val="10000"/>
              </a:srgbClr>
            </a:outerShdw>
          </a:effectLst>
        </p:spPr>
      </p:sp>
      <p:sp>
        <p:nvSpPr>
          <p:cNvPr id="6" name="Text 4"/>
          <p:cNvSpPr/>
          <p:nvPr/>
        </p:nvSpPr>
        <p:spPr>
          <a:xfrm>
            <a:off x="548640" y="1920240"/>
            <a:ext cx="1325880" cy="82296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BB Biotech Analyst</a:t>
            </a:r>
            <a:endParaRPr lang="en-US" sz="900" dirty="0"/>
          </a:p>
          <a:p>
            <a:pPr algn="ctr" indent="0" marL="0">
              <a:buNone/>
            </a:pPr>
            <a:r>
              <a:rPr lang="en-US" sz="700" i="1" dirty="0">
                <a:solidFill>
                  <a:srgbClr val="FFFFFF"/>
                </a:solidFill>
                <a:latin typeface="Calibri" pitchFamily="34" charset="0"/>
                <a:ea typeface="Calibri" pitchFamily="34" charset="-122"/>
                <a:cs typeface="Calibri" pitchFamily="34" charset="-120"/>
              </a:rPr>
              <a:t>acquires data</a:t>
            </a:r>
            <a:endParaRPr lang="en-US" sz="900" dirty="0"/>
          </a:p>
        </p:txBody>
      </p:sp>
      <p:sp>
        <p:nvSpPr>
          <p:cNvPr id="7" name="Shape 5"/>
          <p:cNvSpPr/>
          <p:nvPr/>
        </p:nvSpPr>
        <p:spPr>
          <a:xfrm>
            <a:off x="1920240" y="2331720"/>
            <a:ext cx="548640" cy="0"/>
          </a:xfrm>
          <a:prstGeom prst="line">
            <a:avLst/>
          </a:prstGeom>
          <a:noFill/>
          <a:ln w="19050">
            <a:solidFill>
              <a:srgbClr val="1E2761"/>
            </a:solidFill>
            <a:prstDash val="solid"/>
            <a:headEnd type="none"/>
            <a:tailEnd type="triangle"/>
          </a:ln>
        </p:spPr>
      </p:sp>
      <p:sp>
        <p:nvSpPr>
          <p:cNvPr id="8" name="Shape 6"/>
          <p:cNvSpPr/>
          <p:nvPr/>
        </p:nvSpPr>
        <p:spPr>
          <a:xfrm>
            <a:off x="2560320" y="1874520"/>
            <a:ext cx="1600200" cy="914400"/>
          </a:xfrm>
          <a:prstGeom prst="roundRect">
            <a:avLst>
              <a:gd name="adj" fmla="val 6000"/>
            </a:avLst>
          </a:prstGeom>
          <a:solidFill>
            <a:srgbClr val="1E2761"/>
          </a:solidFill>
          <a:ln w="12700">
            <a:solidFill>
              <a:srgbClr val="1E2761"/>
            </a:solidFill>
            <a:prstDash val="solid"/>
          </a:ln>
          <a:effectLst>
            <a:outerShdw sx="100000" sy="100000" kx="0" ky="0" algn="bl" rotWithShape="0" blurRad="50800" dist="12700" dir="5400000">
              <a:srgbClr val="000000">
                <a:alpha val="10000"/>
              </a:srgbClr>
            </a:outerShdw>
          </a:effectLst>
        </p:spPr>
      </p:sp>
      <p:sp>
        <p:nvSpPr>
          <p:cNvPr id="9" name="Text 7"/>
          <p:cNvSpPr/>
          <p:nvPr/>
        </p:nvSpPr>
        <p:spPr>
          <a:xfrm>
            <a:off x="2560320" y="1874520"/>
            <a:ext cx="1600200" cy="91440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Investment Case Agent</a:t>
            </a:r>
            <a:endParaRPr lang="en-US" sz="1000" dirty="0"/>
          </a:p>
        </p:txBody>
      </p:sp>
      <p:sp>
        <p:nvSpPr>
          <p:cNvPr id="10" name="Shape 8"/>
          <p:cNvSpPr/>
          <p:nvPr/>
        </p:nvSpPr>
        <p:spPr>
          <a:xfrm>
            <a:off x="4709160" y="1298448"/>
            <a:ext cx="1920240" cy="566928"/>
          </a:xfrm>
          <a:prstGeom prst="roundRect">
            <a:avLst>
              <a:gd name="adj" fmla="val 9677"/>
            </a:avLst>
          </a:prstGeom>
          <a:solidFill>
            <a:srgbClr val="1E2761"/>
          </a:solidFill>
          <a:ln w="12700">
            <a:solidFill>
              <a:srgbClr val="1E2761"/>
            </a:solidFill>
            <a:prstDash val="solid"/>
          </a:ln>
          <a:effectLst>
            <a:outerShdw sx="100000" sy="100000" kx="0" ky="0" algn="bl" rotWithShape="0" blurRad="50800" dist="12700" dir="5400000">
              <a:srgbClr val="000000">
                <a:alpha val="10000"/>
              </a:srgbClr>
            </a:outerShdw>
          </a:effectLst>
        </p:spPr>
      </p:sp>
      <p:sp>
        <p:nvSpPr>
          <p:cNvPr id="11" name="Text 9"/>
          <p:cNvSpPr/>
          <p:nvPr/>
        </p:nvSpPr>
        <p:spPr>
          <a:xfrm>
            <a:off x="4709160" y="1298448"/>
            <a:ext cx="1920240" cy="56692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RWE Agent</a:t>
            </a:r>
            <a:endParaRPr lang="en-US" sz="950" dirty="0"/>
          </a:p>
        </p:txBody>
      </p:sp>
      <p:sp>
        <p:nvSpPr>
          <p:cNvPr id="12" name="Shape 10"/>
          <p:cNvSpPr/>
          <p:nvPr/>
        </p:nvSpPr>
        <p:spPr>
          <a:xfrm>
            <a:off x="4206240" y="2331720"/>
            <a:ext cx="502920" cy="-749808"/>
          </a:xfrm>
          <a:prstGeom prst="line">
            <a:avLst/>
          </a:prstGeom>
          <a:noFill/>
          <a:ln w="12700">
            <a:solidFill>
              <a:srgbClr val="1E2761"/>
            </a:solidFill>
            <a:prstDash val="dash"/>
          </a:ln>
        </p:spPr>
      </p:sp>
      <p:sp>
        <p:nvSpPr>
          <p:cNvPr id="13" name="Shape 11"/>
          <p:cNvSpPr/>
          <p:nvPr/>
        </p:nvSpPr>
        <p:spPr>
          <a:xfrm>
            <a:off x="4709160" y="2011680"/>
            <a:ext cx="1920240" cy="566928"/>
          </a:xfrm>
          <a:prstGeom prst="roundRect">
            <a:avLst>
              <a:gd name="adj" fmla="val 9677"/>
            </a:avLst>
          </a:prstGeom>
          <a:solidFill>
            <a:srgbClr val="1E2761"/>
          </a:solidFill>
          <a:ln w="12700">
            <a:solidFill>
              <a:srgbClr val="1E2761"/>
            </a:solidFill>
            <a:prstDash val="solid"/>
          </a:ln>
          <a:effectLst>
            <a:outerShdw sx="100000" sy="100000" kx="0" ky="0" algn="bl" rotWithShape="0" blurRad="50800" dist="12700" dir="5400000">
              <a:srgbClr val="000000">
                <a:alpha val="10000"/>
              </a:srgbClr>
            </a:outerShdw>
          </a:effectLst>
        </p:spPr>
      </p:sp>
      <p:sp>
        <p:nvSpPr>
          <p:cNvPr id="14" name="Text 12"/>
          <p:cNvSpPr/>
          <p:nvPr/>
        </p:nvSpPr>
        <p:spPr>
          <a:xfrm>
            <a:off x="4709160" y="2011680"/>
            <a:ext cx="1920240" cy="56692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Clinical Trial Simulator</a:t>
            </a:r>
            <a:endParaRPr lang="en-US" sz="950" dirty="0"/>
          </a:p>
        </p:txBody>
      </p:sp>
      <p:sp>
        <p:nvSpPr>
          <p:cNvPr id="15" name="Shape 13"/>
          <p:cNvSpPr/>
          <p:nvPr/>
        </p:nvSpPr>
        <p:spPr>
          <a:xfrm>
            <a:off x="4206240" y="2331720"/>
            <a:ext cx="502920" cy="-36576"/>
          </a:xfrm>
          <a:prstGeom prst="line">
            <a:avLst/>
          </a:prstGeom>
          <a:noFill/>
          <a:ln w="12700">
            <a:solidFill>
              <a:srgbClr val="1E2761"/>
            </a:solidFill>
            <a:prstDash val="dash"/>
          </a:ln>
        </p:spPr>
      </p:sp>
      <p:sp>
        <p:nvSpPr>
          <p:cNvPr id="16" name="Shape 14"/>
          <p:cNvSpPr/>
          <p:nvPr/>
        </p:nvSpPr>
        <p:spPr>
          <a:xfrm>
            <a:off x="4709160" y="2724912"/>
            <a:ext cx="1920240" cy="566928"/>
          </a:xfrm>
          <a:prstGeom prst="roundRect">
            <a:avLst>
              <a:gd name="adj" fmla="val 9677"/>
            </a:avLst>
          </a:prstGeom>
          <a:solidFill>
            <a:srgbClr val="1E2761"/>
          </a:solidFill>
          <a:ln w="12700">
            <a:solidFill>
              <a:srgbClr val="1E2761"/>
            </a:solidFill>
            <a:prstDash val="solid"/>
          </a:ln>
          <a:effectLst>
            <a:outerShdw sx="100000" sy="100000" kx="0" ky="0" algn="bl" rotWithShape="0" blurRad="50800" dist="12700" dir="5400000">
              <a:srgbClr val="000000">
                <a:alpha val="10000"/>
              </a:srgbClr>
            </a:outerShdw>
          </a:effectLst>
        </p:spPr>
      </p:sp>
      <p:sp>
        <p:nvSpPr>
          <p:cNvPr id="17" name="Text 15"/>
          <p:cNvSpPr/>
          <p:nvPr/>
        </p:nvSpPr>
        <p:spPr>
          <a:xfrm>
            <a:off x="4709160" y="2724912"/>
            <a:ext cx="1920240" cy="566928"/>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ea typeface="Calibri" pitchFamily="34" charset="-122"/>
                <a:cs typeface="Calibri" pitchFamily="34" charset="-120"/>
              </a:rPr>
              <a:t>Financial Model Agent</a:t>
            </a:r>
            <a:endParaRPr lang="en-US" sz="950" dirty="0"/>
          </a:p>
        </p:txBody>
      </p:sp>
      <p:sp>
        <p:nvSpPr>
          <p:cNvPr id="18" name="Shape 16"/>
          <p:cNvSpPr/>
          <p:nvPr/>
        </p:nvSpPr>
        <p:spPr>
          <a:xfrm>
            <a:off x="4206240" y="2331720"/>
            <a:ext cx="502920" cy="676656"/>
          </a:xfrm>
          <a:prstGeom prst="line">
            <a:avLst/>
          </a:prstGeom>
          <a:noFill/>
          <a:ln w="12700">
            <a:solidFill>
              <a:srgbClr val="1E2761"/>
            </a:solidFill>
            <a:prstDash val="dash"/>
          </a:ln>
        </p:spPr>
      </p:sp>
      <p:sp>
        <p:nvSpPr>
          <p:cNvPr id="19" name="Shape 17"/>
          <p:cNvSpPr/>
          <p:nvPr/>
        </p:nvSpPr>
        <p:spPr>
          <a:xfrm>
            <a:off x="6629400" y="1581912"/>
            <a:ext cx="182880" cy="0"/>
          </a:xfrm>
          <a:prstGeom prst="line">
            <a:avLst/>
          </a:prstGeom>
          <a:noFill/>
          <a:ln w="12700">
            <a:solidFill>
              <a:srgbClr val="5A6478"/>
            </a:solidFill>
            <a:prstDash val="dash"/>
          </a:ln>
        </p:spPr>
      </p:sp>
      <p:sp>
        <p:nvSpPr>
          <p:cNvPr id="20" name="Shape 18"/>
          <p:cNvSpPr/>
          <p:nvPr/>
        </p:nvSpPr>
        <p:spPr>
          <a:xfrm>
            <a:off x="6629400" y="2295144"/>
            <a:ext cx="182880" cy="0"/>
          </a:xfrm>
          <a:prstGeom prst="line">
            <a:avLst/>
          </a:prstGeom>
          <a:noFill/>
          <a:ln w="12700">
            <a:solidFill>
              <a:srgbClr val="5A6478"/>
            </a:solidFill>
            <a:prstDash val="dash"/>
          </a:ln>
        </p:spPr>
      </p:sp>
      <p:sp>
        <p:nvSpPr>
          <p:cNvPr id="21" name="Shape 19"/>
          <p:cNvSpPr/>
          <p:nvPr/>
        </p:nvSpPr>
        <p:spPr>
          <a:xfrm>
            <a:off x="6629400" y="3008376"/>
            <a:ext cx="182880" cy="0"/>
          </a:xfrm>
          <a:prstGeom prst="line">
            <a:avLst/>
          </a:prstGeom>
          <a:noFill/>
          <a:ln w="12700">
            <a:solidFill>
              <a:srgbClr val="5A6478"/>
            </a:solidFill>
            <a:prstDash val="dash"/>
          </a:ln>
        </p:spPr>
      </p:sp>
      <p:sp>
        <p:nvSpPr>
          <p:cNvPr id="22" name="Shape 20"/>
          <p:cNvSpPr/>
          <p:nvPr/>
        </p:nvSpPr>
        <p:spPr>
          <a:xfrm>
            <a:off x="6766560" y="1581912"/>
            <a:ext cx="0" cy="1938528"/>
          </a:xfrm>
          <a:prstGeom prst="line">
            <a:avLst/>
          </a:prstGeom>
          <a:noFill/>
          <a:ln w="12700">
            <a:solidFill>
              <a:srgbClr val="5A6478"/>
            </a:solidFill>
            <a:prstDash val="dash"/>
          </a:ln>
        </p:spPr>
      </p:sp>
      <p:sp>
        <p:nvSpPr>
          <p:cNvPr id="23" name="Shape 21"/>
          <p:cNvSpPr/>
          <p:nvPr/>
        </p:nvSpPr>
        <p:spPr>
          <a:xfrm>
            <a:off x="2331720" y="3520440"/>
            <a:ext cx="4709160" cy="438912"/>
          </a:xfrm>
          <a:prstGeom prst="roundRect">
            <a:avLst>
              <a:gd name="adj" fmla="val 12500"/>
            </a:avLst>
          </a:prstGeom>
          <a:solidFill>
            <a:srgbClr val="FFFFFF"/>
          </a:solidFill>
          <a:ln w="17780">
            <a:solidFill>
              <a:srgbClr val="C8862A"/>
            </a:solidFill>
            <a:prstDash val="dash"/>
          </a:ln>
        </p:spPr>
      </p:sp>
      <p:sp>
        <p:nvSpPr>
          <p:cNvPr id="24" name="Text 22"/>
          <p:cNvSpPr/>
          <p:nvPr/>
        </p:nvSpPr>
        <p:spPr>
          <a:xfrm>
            <a:off x="2331720" y="3520440"/>
            <a:ext cx="4709160" cy="438912"/>
          </a:xfrm>
          <a:prstGeom prst="rect">
            <a:avLst/>
          </a:prstGeom>
          <a:noFill/>
          <a:ln/>
        </p:spPr>
        <p:txBody>
          <a:bodyPr wrap="square" lIns="0" tIns="0" rIns="0" bIns="0" rtlCol="0" anchor="ctr"/>
          <a:lstStyle/>
          <a:p>
            <a:pPr algn="ctr" indent="0" marL="0">
              <a:buNone/>
            </a:pPr>
            <a:r>
              <a:rPr lang="en-US" sz="900" b="1" dirty="0">
                <a:solidFill>
                  <a:srgbClr val="C8862A"/>
                </a:solidFill>
                <a:latin typeface="Calibri" pitchFamily="34" charset="0"/>
                <a:ea typeface="Calibri" pitchFamily="34" charset="-122"/>
                <a:cs typeface="Calibri" pitchFamily="34" charset="-120"/>
              </a:rPr>
              <a:t>UNCERTAINTY LAYER   </a:t>
            </a:r>
            <a:pPr algn="ctr" indent="0" marL="0">
              <a:buNone/>
            </a:pPr>
            <a:r>
              <a:rPr lang="en-US" sz="800" i="1" dirty="0">
                <a:solidFill>
                  <a:srgbClr val="5A6478"/>
                </a:solidFill>
                <a:latin typeface="Calibri" pitchFamily="34" charset="0"/>
                <a:ea typeface="Calibri" pitchFamily="34" charset="-122"/>
                <a:cs typeface="Calibri" pitchFamily="34" charset="-120"/>
              </a:rPr>
              <a:t>every output carries an interval, never a bare point estimate</a:t>
            </a:r>
            <a:endParaRPr lang="en-US" sz="900" dirty="0"/>
          </a:p>
        </p:txBody>
      </p:sp>
      <p:sp>
        <p:nvSpPr>
          <p:cNvPr id="25" name="Shape 23"/>
          <p:cNvSpPr/>
          <p:nvPr/>
        </p:nvSpPr>
        <p:spPr>
          <a:xfrm>
            <a:off x="548640" y="3465576"/>
            <a:ext cx="1554480" cy="548640"/>
          </a:xfrm>
          <a:prstGeom prst="roundRect">
            <a:avLst>
              <a:gd name="adj" fmla="val 10000"/>
            </a:avLst>
          </a:prstGeom>
          <a:solidFill>
            <a:srgbClr val="C8862A"/>
          </a:solidFill>
          <a:ln w="12700">
            <a:solidFill>
              <a:srgbClr val="C8862A"/>
            </a:solidFill>
            <a:prstDash val="solid"/>
          </a:ln>
        </p:spPr>
      </p:sp>
      <p:sp>
        <p:nvSpPr>
          <p:cNvPr id="26" name="Text 24"/>
          <p:cNvSpPr/>
          <p:nvPr/>
        </p:nvSpPr>
        <p:spPr>
          <a:xfrm>
            <a:off x="548640" y="3465576"/>
            <a:ext cx="1554480" cy="548640"/>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Active sensing
</a:t>
            </a:r>
            <a:pPr algn="ctr" indent="0" marL="0">
              <a:buNone/>
            </a:pPr>
            <a:r>
              <a:rPr lang="en-US" sz="700" i="1" dirty="0">
                <a:solidFill>
                  <a:srgbClr val="FFF3DF"/>
                </a:solidFill>
                <a:latin typeface="Calibri" pitchFamily="34" charset="0"/>
                <a:ea typeface="Calibri" pitchFamily="34" charset="-122"/>
                <a:cs typeface="Calibri" pitchFamily="34" charset="-120"/>
              </a:rPr>
              <a:t>what most reduces variance?</a:t>
            </a:r>
            <a:endParaRPr lang="en-US" sz="900" dirty="0"/>
          </a:p>
        </p:txBody>
      </p:sp>
      <p:sp>
        <p:nvSpPr>
          <p:cNvPr id="27" name="Shape 25"/>
          <p:cNvSpPr/>
          <p:nvPr/>
        </p:nvSpPr>
        <p:spPr>
          <a:xfrm>
            <a:off x="2331720" y="3739896"/>
            <a:ext cx="-228600" cy="0"/>
          </a:xfrm>
          <a:prstGeom prst="line">
            <a:avLst/>
          </a:prstGeom>
          <a:noFill/>
          <a:ln w="19050">
            <a:solidFill>
              <a:srgbClr val="C8862A"/>
            </a:solidFill>
            <a:prstDash val="solid"/>
            <a:headEnd type="none"/>
            <a:tailEnd type="triangle"/>
          </a:ln>
        </p:spPr>
      </p:sp>
      <p:sp>
        <p:nvSpPr>
          <p:cNvPr id="28" name="Shape 26"/>
          <p:cNvSpPr/>
          <p:nvPr/>
        </p:nvSpPr>
        <p:spPr>
          <a:xfrm>
            <a:off x="1325880" y="3465576"/>
            <a:ext cx="0" cy="-722376"/>
          </a:xfrm>
          <a:prstGeom prst="line">
            <a:avLst/>
          </a:prstGeom>
          <a:noFill/>
          <a:ln w="19050">
            <a:solidFill>
              <a:srgbClr val="C8862A"/>
            </a:solidFill>
            <a:prstDash val="solid"/>
            <a:headEnd type="none"/>
            <a:tailEnd type="triangle"/>
          </a:ln>
        </p:spPr>
      </p:sp>
      <p:sp>
        <p:nvSpPr>
          <p:cNvPr id="29" name="Text 27"/>
          <p:cNvSpPr/>
          <p:nvPr/>
        </p:nvSpPr>
        <p:spPr>
          <a:xfrm>
            <a:off x="548640" y="4059936"/>
            <a:ext cx="1554480" cy="292608"/>
          </a:xfrm>
          <a:prstGeom prst="rect">
            <a:avLst/>
          </a:prstGeom>
          <a:noFill/>
          <a:ln/>
        </p:spPr>
        <p:txBody>
          <a:bodyPr wrap="square" lIns="0" tIns="0" rIns="0" bIns="0" rtlCol="0" anchor="ctr"/>
          <a:lstStyle/>
          <a:p>
            <a:pPr algn="ctr" indent="0" marL="0">
              <a:buNone/>
            </a:pPr>
            <a:r>
              <a:rPr lang="en-US" sz="700" i="1" dirty="0">
                <a:solidFill>
                  <a:srgbClr val="C8862A"/>
                </a:solidFill>
                <a:latin typeface="Calibri" pitchFamily="34" charset="0"/>
                <a:ea typeface="Calibri" pitchFamily="34" charset="-122"/>
                <a:cs typeface="Calibri" pitchFamily="34" charset="-120"/>
              </a:rPr>
              <a:t>data does not exist → ask a human</a:t>
            </a:r>
            <a:endParaRPr lang="en-US" sz="700" dirty="0"/>
          </a:p>
        </p:txBody>
      </p:sp>
      <p:sp>
        <p:nvSpPr>
          <p:cNvPr id="30" name="Shape 28"/>
          <p:cNvSpPr/>
          <p:nvPr/>
        </p:nvSpPr>
        <p:spPr>
          <a:xfrm>
            <a:off x="2331720" y="4096512"/>
            <a:ext cx="4709160" cy="530352"/>
          </a:xfrm>
          <a:prstGeom prst="roundRect">
            <a:avLst>
              <a:gd name="adj" fmla="val 10345"/>
            </a:avLst>
          </a:prstGeom>
          <a:solidFill>
            <a:srgbClr val="CADCFC"/>
          </a:solidFill>
          <a:ln w="12700">
            <a:solidFill>
              <a:srgbClr val="CADCFC"/>
            </a:solidFill>
            <a:prstDash val="solid"/>
          </a:ln>
          <a:effectLst>
            <a:outerShdw sx="100000" sy="100000" kx="0" ky="0" algn="bl" rotWithShape="0" blurRad="50800" dist="12700" dir="5400000">
              <a:srgbClr val="000000">
                <a:alpha val="10000"/>
              </a:srgbClr>
            </a:outerShdw>
          </a:effectLst>
        </p:spPr>
      </p:sp>
      <p:sp>
        <p:nvSpPr>
          <p:cNvPr id="31" name="Text 29"/>
          <p:cNvSpPr/>
          <p:nvPr/>
        </p:nvSpPr>
        <p:spPr>
          <a:xfrm>
            <a:off x="2331720" y="4096512"/>
            <a:ext cx="4709160" cy="530352"/>
          </a:xfrm>
          <a:prstGeom prst="rect">
            <a:avLst/>
          </a:prstGeom>
          <a:noFill/>
          <a:ln/>
        </p:spPr>
        <p:txBody>
          <a:bodyPr wrap="square" lIns="0" tIns="0" rIns="0" bIns="0" rtlCol="0" anchor="ctr"/>
          <a:lstStyle/>
          <a:p>
            <a:pPr algn="ctr" indent="0" marL="0">
              <a:buNone/>
            </a:pPr>
            <a:r>
              <a:rPr lang="en-US" sz="800" b="1" dirty="0">
                <a:solidFill>
                  <a:srgbClr val="1E2761"/>
                </a:solidFill>
                <a:latin typeface="Calibri" pitchFamily="34" charset="0"/>
                <a:ea typeface="Calibri" pitchFamily="34" charset="-122"/>
                <a:cs typeface="Calibri" pitchFamily="34" charset="-120"/>
              </a:rPr>
              <a:t>DATA SOURCES  ·  Claims (IQVIA · Komodo) · EHR (TriNetX) · ClinicalTrials.gov · FDA labels · SEC filings &amp; transcripts · Catalysts · Literature · Options volatility · Document store</a:t>
            </a:r>
            <a:endParaRPr lang="en-US" sz="800" dirty="0"/>
          </a:p>
        </p:txBody>
      </p:sp>
      <p:sp>
        <p:nvSpPr>
          <p:cNvPr id="32" name="Shape 30"/>
          <p:cNvSpPr/>
          <p:nvPr/>
        </p:nvSpPr>
        <p:spPr>
          <a:xfrm>
            <a:off x="2331720" y="4700016"/>
            <a:ext cx="4709160" cy="475488"/>
          </a:xfrm>
          <a:prstGeom prst="roundRect">
            <a:avLst>
              <a:gd name="adj" fmla="val 11538"/>
            </a:avLst>
          </a:prstGeom>
          <a:solidFill>
            <a:srgbClr val="4F6BA8"/>
          </a:solidFill>
          <a:ln w="12700">
            <a:solidFill>
              <a:srgbClr val="4F6BA8"/>
            </a:solidFill>
            <a:prstDash val="solid"/>
          </a:ln>
          <a:effectLst>
            <a:outerShdw sx="100000" sy="100000" kx="0" ky="0" algn="bl" rotWithShape="0" blurRad="50800" dist="12700" dir="5400000">
              <a:srgbClr val="000000">
                <a:alpha val="10000"/>
              </a:srgbClr>
            </a:outerShdw>
          </a:effectLst>
        </p:spPr>
      </p:sp>
      <p:sp>
        <p:nvSpPr>
          <p:cNvPr id="33" name="Text 31"/>
          <p:cNvSpPr/>
          <p:nvPr/>
        </p:nvSpPr>
        <p:spPr>
          <a:xfrm>
            <a:off x="2331720" y="4700016"/>
            <a:ext cx="4709160" cy="475488"/>
          </a:xfrm>
          <a:prstGeom prst="rect">
            <a:avLst/>
          </a:prstGeom>
          <a:noFill/>
          <a:ln/>
        </p:spPr>
        <p:txBody>
          <a:bodyPr wrap="square" lIns="0" tIns="0" rIns="0" bIns="0" rtlCol="0" anchor="ctr"/>
          <a:lstStyle/>
          <a:p>
            <a:pPr algn="ctr" indent="0" marL="0">
              <a:buNone/>
            </a:pPr>
            <a:r>
              <a:rPr lang="en-US" sz="800" b="1" dirty="0">
                <a:solidFill>
                  <a:srgbClr val="FFFFFF"/>
                </a:solidFill>
                <a:latin typeface="Calibri" pitchFamily="34" charset="0"/>
                <a:ea typeface="Calibri" pitchFamily="34" charset="-122"/>
                <a:cs typeface="Calibri" pitchFamily="34" charset="-120"/>
              </a:rPr>
              <a:t>TOOLS  ·  TAM funnel · rNPV / eNPV · PTS priors · Monte Carlo · Bayesian updater · Calibration scorer · VOI ranker · Citation verifier · Retrieval</a:t>
            </a:r>
            <a:endParaRPr lang="en-US" sz="800" dirty="0"/>
          </a:p>
        </p:txBody>
      </p:sp>
      <p:sp>
        <p:nvSpPr>
          <p:cNvPr id="34" name="Shape 32"/>
          <p:cNvSpPr/>
          <p:nvPr/>
        </p:nvSpPr>
        <p:spPr>
          <a:xfrm>
            <a:off x="2331720" y="5248656"/>
            <a:ext cx="4709160" cy="475488"/>
          </a:xfrm>
          <a:prstGeom prst="roundRect">
            <a:avLst>
              <a:gd name="adj" fmla="val 11538"/>
            </a:avLst>
          </a:prstGeom>
          <a:solidFill>
            <a:srgbClr val="EDEFF5"/>
          </a:solidFill>
          <a:ln w="15875">
            <a:solidFill>
              <a:srgbClr val="1E2761"/>
            </a:solidFill>
            <a:prstDash val="dash"/>
          </a:ln>
          <a:effectLst>
            <a:outerShdw sx="100000" sy="100000" kx="0" ky="0" algn="bl" rotWithShape="0" blurRad="50800" dist="12700" dir="5400000">
              <a:srgbClr val="000000">
                <a:alpha val="10000"/>
              </a:srgbClr>
            </a:outerShdw>
          </a:effectLst>
        </p:spPr>
      </p:sp>
      <p:sp>
        <p:nvSpPr>
          <p:cNvPr id="35" name="Text 33"/>
          <p:cNvSpPr/>
          <p:nvPr/>
        </p:nvSpPr>
        <p:spPr>
          <a:xfrm>
            <a:off x="2331720" y="5248656"/>
            <a:ext cx="4709160" cy="475488"/>
          </a:xfrm>
          <a:prstGeom prst="rect">
            <a:avLst/>
          </a:prstGeom>
          <a:noFill/>
          <a:ln/>
        </p:spPr>
        <p:txBody>
          <a:bodyPr wrap="square" lIns="0" tIns="0" rIns="0" bIns="0" rtlCol="0" anchor="ctr"/>
          <a:lstStyle/>
          <a:p>
            <a:pPr algn="ctr" indent="0" marL="0">
              <a:buNone/>
            </a:pPr>
            <a:r>
              <a:rPr lang="en-US" sz="800" b="1" dirty="0">
                <a:solidFill>
                  <a:srgbClr val="1E2761"/>
                </a:solidFill>
                <a:latin typeface="Calibri" pitchFamily="34" charset="0"/>
                <a:ea typeface="Calibri" pitchFamily="34" charset="-122"/>
                <a:cs typeface="Calibri" pitchFamily="34" charset="-120"/>
              </a:rPr>
              <a:t>SKILL SETS  ·  tam-funnel · rnpv-valuation · evidence-grading · citation-verify · thesis-template · catalyst-brief · uncertainty-reporting</a:t>
            </a:r>
            <a:endParaRPr lang="en-US" sz="800" dirty="0"/>
          </a:p>
        </p:txBody>
      </p:sp>
      <p:sp>
        <p:nvSpPr>
          <p:cNvPr id="36" name="Shape 34"/>
          <p:cNvSpPr/>
          <p:nvPr/>
        </p:nvSpPr>
        <p:spPr>
          <a:xfrm>
            <a:off x="8092440" y="1188720"/>
            <a:ext cx="3611880" cy="2148840"/>
          </a:xfrm>
          <a:prstGeom prst="roundRect">
            <a:avLst>
              <a:gd name="adj" fmla="val 2553"/>
            </a:avLst>
          </a:prstGeom>
          <a:solidFill>
            <a:srgbClr val="F4F6FA"/>
          </a:solidFill>
          <a:ln w="12700">
            <a:solidFill>
              <a:srgbClr val="DDE3EE"/>
            </a:solidFill>
            <a:prstDash val="solid"/>
          </a:ln>
        </p:spPr>
      </p:sp>
      <p:sp>
        <p:nvSpPr>
          <p:cNvPr id="37" name="Text 35"/>
          <p:cNvSpPr/>
          <p:nvPr/>
        </p:nvSpPr>
        <p:spPr>
          <a:xfrm>
            <a:off x="8293608" y="1307592"/>
            <a:ext cx="3209544" cy="274320"/>
          </a:xfrm>
          <a:prstGeom prst="rect">
            <a:avLst/>
          </a:prstGeom>
          <a:noFill/>
          <a:ln/>
        </p:spPr>
        <p:txBody>
          <a:bodyPr wrap="square" lIns="0" tIns="0" rIns="0" bIns="0" rtlCol="0" anchor="ctr"/>
          <a:lstStyle/>
          <a:p>
            <a:pPr indent="0" marL="0">
              <a:buNone/>
            </a:pPr>
            <a:r>
              <a:rPr lang="en-US" sz="1200" b="1" spc="120" kern="0" dirty="0">
                <a:solidFill>
                  <a:srgbClr val="1E2761"/>
                </a:solidFill>
                <a:latin typeface="Calibri" pitchFamily="34" charset="0"/>
                <a:ea typeface="Calibri" pitchFamily="34" charset="-122"/>
                <a:cs typeface="Calibri" pitchFamily="34" charset="-120"/>
              </a:rPr>
              <a:t>BENEFITS</a:t>
            </a:r>
            <a:endParaRPr lang="en-US" sz="1200" dirty="0"/>
          </a:p>
        </p:txBody>
      </p:sp>
      <p:sp>
        <p:nvSpPr>
          <p:cNvPr id="38" name="Text 36"/>
          <p:cNvSpPr/>
          <p:nvPr/>
        </p:nvSpPr>
        <p:spPr>
          <a:xfrm>
            <a:off x="8293608" y="1627632"/>
            <a:ext cx="3209544" cy="160020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Answers arrive with calibrated uncertainty</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System ranks what to go and find out</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Analyst is summoned, not replaced</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Value-of-information drives spend, not curiosity</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uncertainty-reporting skill enforces the rule</a:t>
            </a:r>
            <a:endParaRPr lang="en-US" sz="1050" dirty="0"/>
          </a:p>
        </p:txBody>
      </p:sp>
      <p:sp>
        <p:nvSpPr>
          <p:cNvPr id="39" name="Shape 37"/>
          <p:cNvSpPr/>
          <p:nvPr/>
        </p:nvSpPr>
        <p:spPr>
          <a:xfrm>
            <a:off x="8092440" y="3520440"/>
            <a:ext cx="3611880" cy="2286000"/>
          </a:xfrm>
          <a:prstGeom prst="roundRect">
            <a:avLst>
              <a:gd name="adj" fmla="val 2400"/>
            </a:avLst>
          </a:prstGeom>
          <a:solidFill>
            <a:srgbClr val="FFFFFF"/>
          </a:solidFill>
          <a:ln w="15875">
            <a:solidFill>
              <a:srgbClr val="C8862A"/>
            </a:solidFill>
            <a:prstDash val="solid"/>
          </a:ln>
        </p:spPr>
      </p:sp>
      <p:sp>
        <p:nvSpPr>
          <p:cNvPr id="40" name="Text 38"/>
          <p:cNvSpPr/>
          <p:nvPr/>
        </p:nvSpPr>
        <p:spPr>
          <a:xfrm>
            <a:off x="8293608" y="3639312"/>
            <a:ext cx="3209544" cy="274320"/>
          </a:xfrm>
          <a:prstGeom prst="rect">
            <a:avLst/>
          </a:prstGeom>
          <a:noFill/>
          <a:ln/>
        </p:spPr>
        <p:txBody>
          <a:bodyPr wrap="square" lIns="0" tIns="0" rIns="0" bIns="0" rtlCol="0" anchor="ctr"/>
          <a:lstStyle/>
          <a:p>
            <a:pPr indent="0" marL="0">
              <a:buNone/>
            </a:pPr>
            <a:r>
              <a:rPr lang="en-US" sz="1200" b="1" spc="120" kern="0" dirty="0">
                <a:solidFill>
                  <a:srgbClr val="C8862A"/>
                </a:solidFill>
                <a:latin typeface="Calibri" pitchFamily="34" charset="0"/>
                <a:ea typeface="Calibri" pitchFamily="34" charset="-122"/>
                <a:cs typeface="Calibri" pitchFamily="34" charset="-120"/>
              </a:rPr>
              <a:t>LIMITATIONS</a:t>
            </a:r>
            <a:endParaRPr lang="en-US" sz="1200" dirty="0"/>
          </a:p>
        </p:txBody>
      </p:sp>
      <p:sp>
        <p:nvSpPr>
          <p:cNvPr id="41" name="Text 39"/>
          <p:cNvSpPr/>
          <p:nvPr/>
        </p:nvSpPr>
        <p:spPr>
          <a:xfrm>
            <a:off x="8293608" y="3959352"/>
            <a:ext cx="3209544" cy="1737360"/>
          </a:xfrm>
          <a:prstGeom prst="rect">
            <a:avLst/>
          </a:prstGeom>
          <a:noFill/>
          <a:ln/>
        </p:spPr>
        <p:txBody>
          <a:bodyPr wrap="square" lIns="0" tIns="0" rIns="0" bIns="0" rtlCol="0" anchor="t"/>
          <a:lstStyle/>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Calibration needs ground truth that arrives late</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VOI is only as good as the model's own priors</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Over-escalation trains analysts to ignore it</a:t>
            </a:r>
            <a:endParaRPr lang="en-US" sz="1050" dirty="0"/>
          </a:p>
          <a:p>
            <a:pPr marL="342900" indent="-342900">
              <a:spcAft>
                <a:spcPts val="400"/>
              </a:spcAft>
              <a:buSzPct val="100000"/>
              <a:buChar char="•"/>
            </a:pPr>
            <a:r>
              <a:rPr lang="en-US" sz="1050" dirty="0">
                <a:solidFill>
                  <a:srgbClr val="2C3550"/>
                </a:solidFill>
                <a:latin typeface="Calibri" pitchFamily="34" charset="0"/>
                <a:ea typeface="Calibri" pitchFamily="34" charset="-122"/>
                <a:cs typeface="Calibri" pitchFamily="34" charset="-120"/>
              </a:rPr>
              <a:t>Genuinely hard to build — the ambitious rung</a:t>
            </a:r>
            <a:endParaRPr lang="en-US" sz="1050" dirty="0"/>
          </a:p>
        </p:txBody>
      </p:sp>
      <p:sp>
        <p:nvSpPr>
          <p:cNvPr id="42" name="Text 40"/>
          <p:cNvSpPr/>
          <p:nvPr/>
        </p:nvSpPr>
        <p:spPr>
          <a:xfrm>
            <a:off x="502920" y="6035040"/>
            <a:ext cx="11155680" cy="384048"/>
          </a:xfrm>
          <a:prstGeom prst="rect">
            <a:avLst/>
          </a:prstGeom>
          <a:noFill/>
          <a:ln/>
        </p:spPr>
        <p:txBody>
          <a:bodyPr wrap="square" lIns="0" tIns="0" rIns="0" bIns="0" rtlCol="0" anchor="ctr"/>
          <a:lstStyle/>
          <a:p>
            <a:pPr indent="0" marL="0">
              <a:buNone/>
            </a:pPr>
            <a:r>
              <a:rPr lang="en-US" sz="1200" b="1" dirty="0">
                <a:solidFill>
                  <a:srgbClr val="C8862A"/>
                </a:solidFill>
                <a:latin typeface="Calibri" pitchFamily="34" charset="0"/>
                <a:ea typeface="Calibri" pitchFamily="34" charset="-122"/>
                <a:cs typeface="Calibri" pitchFamily="34" charset="-120"/>
              </a:rPr>
              <a:t>→  </a:t>
            </a:r>
            <a:pPr indent="0" marL="0">
              <a:buNone/>
            </a:pPr>
            <a:r>
              <a:rPr lang="en-US" sz="1200" i="1" dirty="0">
                <a:solidFill>
                  <a:srgbClr val="1E2761"/>
                </a:solidFill>
                <a:latin typeface="Calibri" pitchFamily="34" charset="0"/>
                <a:ea typeface="Calibri" pitchFamily="34" charset="-122"/>
                <a:cs typeface="Calibri" pitchFamily="34" charset="-120"/>
              </a:rPr>
              <a:t>Every rung above rests on one claim: that we can tell whether the system is right. That is an evaluation problem, not an architecture problem.</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640080" y="411480"/>
            <a:ext cx="10972800" cy="68580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Evaluation — how do we know we built the right system?</a:t>
            </a:r>
            <a:endParaRPr lang="en-US" sz="2900" dirty="0"/>
          </a:p>
        </p:txBody>
      </p:sp>
      <p:sp>
        <p:nvSpPr>
          <p:cNvPr id="3" name="Text 1"/>
          <p:cNvSpPr/>
          <p:nvPr/>
        </p:nvSpPr>
        <p:spPr>
          <a:xfrm>
            <a:off x="640080" y="1115568"/>
            <a:ext cx="10424160" cy="365760"/>
          </a:xfrm>
          <a:prstGeom prst="rect">
            <a:avLst/>
          </a:prstGeom>
          <a:noFill/>
          <a:ln/>
        </p:spPr>
        <p:txBody>
          <a:bodyPr wrap="square" lIns="0" tIns="0" rIns="0" bIns="0" rtlCol="0" anchor="ctr"/>
          <a:lstStyle/>
          <a:p>
            <a:pPr indent="0" marL="0">
              <a:buNone/>
            </a:pPr>
            <a:r>
              <a:rPr lang="en-US" sz="1250" i="1" dirty="0">
                <a:solidFill>
                  <a:srgbClr val="CADCFC"/>
                </a:solidFill>
                <a:latin typeface="Calibri" pitchFamily="34" charset="0"/>
                <a:ea typeface="Calibri" pitchFamily="34" charset="-122"/>
                <a:cs typeface="Calibri" pitchFamily="34" charset="-120"/>
              </a:rPr>
              <a:t>In drug investing the ground truth arrives in years. We cannot wait for it — so we measure what is knowable now, at four layers.</a:t>
            </a:r>
            <a:endParaRPr lang="en-US" sz="1250" dirty="0"/>
          </a:p>
        </p:txBody>
      </p:sp>
      <p:sp>
        <p:nvSpPr>
          <p:cNvPr id="4" name="Shape 2"/>
          <p:cNvSpPr/>
          <p:nvPr/>
        </p:nvSpPr>
        <p:spPr>
          <a:xfrm>
            <a:off x="640080" y="1737360"/>
            <a:ext cx="2514600" cy="3246120"/>
          </a:xfrm>
          <a:prstGeom prst="roundRect">
            <a:avLst>
              <a:gd name="adj" fmla="val 2182"/>
            </a:avLst>
          </a:prstGeom>
          <a:solidFill>
            <a:srgbClr val="2A3670"/>
          </a:solidFill>
          <a:ln w="12700">
            <a:solidFill>
              <a:srgbClr val="3E4C8A"/>
            </a:solidFill>
            <a:prstDash val="solid"/>
          </a:ln>
        </p:spPr>
      </p:sp>
      <p:sp>
        <p:nvSpPr>
          <p:cNvPr id="5" name="Shape 3"/>
          <p:cNvSpPr/>
          <p:nvPr/>
        </p:nvSpPr>
        <p:spPr>
          <a:xfrm>
            <a:off x="822960" y="1920240"/>
            <a:ext cx="384048" cy="384048"/>
          </a:xfrm>
          <a:prstGeom prst="ellipse">
            <a:avLst/>
          </a:prstGeom>
          <a:solidFill>
            <a:srgbClr val="CADCFC"/>
          </a:solidFill>
          <a:ln/>
        </p:spPr>
      </p:sp>
      <p:sp>
        <p:nvSpPr>
          <p:cNvPr id="6" name="Text 4"/>
          <p:cNvSpPr/>
          <p:nvPr/>
        </p:nvSpPr>
        <p:spPr>
          <a:xfrm>
            <a:off x="822960" y="1920240"/>
            <a:ext cx="384048" cy="38404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1</a:t>
            </a:r>
            <a:endParaRPr lang="en-US" sz="1200" dirty="0"/>
          </a:p>
        </p:txBody>
      </p:sp>
      <p:sp>
        <p:nvSpPr>
          <p:cNvPr id="7" name="Text 5"/>
          <p:cNvSpPr/>
          <p:nvPr/>
        </p:nvSpPr>
        <p:spPr>
          <a:xfrm>
            <a:off x="1298448" y="1920240"/>
            <a:ext cx="1737360" cy="384048"/>
          </a:xfrm>
          <a:prstGeom prst="rect">
            <a:avLst/>
          </a:prstGeom>
          <a:noFill/>
          <a:ln/>
        </p:spPr>
        <p:txBody>
          <a:bodyPr wrap="square" lIns="0" tIns="0" rIns="0" bIns="0" rtlCol="0" anchor="ctr"/>
          <a:lstStyle/>
          <a:p>
            <a:pPr indent="0" marL="0">
              <a:buNone/>
            </a:pPr>
            <a:r>
              <a:rPr lang="en-US" sz="1200" b="1" spc="80" kern="0" dirty="0">
                <a:solidFill>
                  <a:srgbClr val="FFFFFF"/>
                </a:solidFill>
                <a:latin typeface="Calibri" pitchFamily="34" charset="0"/>
                <a:ea typeface="Calibri" pitchFamily="34" charset="-122"/>
                <a:cs typeface="Calibri" pitchFamily="34" charset="-120"/>
              </a:rPr>
              <a:t>COMPONENT</a:t>
            </a:r>
            <a:endParaRPr lang="en-US" sz="1200" dirty="0"/>
          </a:p>
        </p:txBody>
      </p:sp>
      <p:sp>
        <p:nvSpPr>
          <p:cNvPr id="8" name="Text 6"/>
          <p:cNvSpPr/>
          <p:nvPr/>
        </p:nvSpPr>
        <p:spPr>
          <a:xfrm>
            <a:off x="822960" y="2395728"/>
            <a:ext cx="2148840" cy="457200"/>
          </a:xfrm>
          <a:prstGeom prst="rect">
            <a:avLst/>
          </a:prstGeom>
          <a:noFill/>
          <a:ln/>
        </p:spPr>
        <p:txBody>
          <a:bodyPr wrap="square" lIns="0" tIns="0" rIns="0" bIns="0" rtlCol="0" anchor="ctr"/>
          <a:lstStyle/>
          <a:p>
            <a:pPr indent="0" marL="0">
              <a:buNone/>
            </a:pPr>
            <a:r>
              <a:rPr lang="en-US" sz="1000" i="1" dirty="0">
                <a:solidFill>
                  <a:srgbClr val="9DAAD0"/>
                </a:solidFill>
                <a:latin typeface="Calibri" pitchFamily="34" charset="0"/>
                <a:ea typeface="Calibri" pitchFamily="34" charset="-122"/>
                <a:cs typeface="Calibri" pitchFamily="34" charset="-120"/>
              </a:rPr>
              <a:t>Does each tool do its job?</a:t>
            </a:r>
            <a:endParaRPr lang="en-US" sz="1000" dirty="0"/>
          </a:p>
        </p:txBody>
      </p:sp>
      <p:sp>
        <p:nvSpPr>
          <p:cNvPr id="9" name="Text 7"/>
          <p:cNvSpPr/>
          <p:nvPr/>
        </p:nvSpPr>
        <p:spPr>
          <a:xfrm>
            <a:off x="822960" y="2926080"/>
            <a:ext cx="2148840" cy="187452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E4E9F5"/>
                </a:solidFill>
                <a:latin typeface="Calibri" pitchFamily="34" charset="0"/>
                <a:ea typeface="Calibri" pitchFamily="34" charset="-122"/>
                <a:cs typeface="Calibri" pitchFamily="34" charset="-120"/>
              </a:rPr>
              <a:t>Unit tests on TAM, rNPV</a:t>
            </a:r>
            <a:endParaRPr lang="en-US" sz="1000" dirty="0"/>
          </a:p>
          <a:p>
            <a:pPr marL="342900" indent="-342900">
              <a:spcAft>
                <a:spcPts val="500"/>
              </a:spcAft>
              <a:buSzPct val="100000"/>
              <a:buChar char="•"/>
            </a:pPr>
            <a:r>
              <a:rPr lang="en-US" sz="1000" dirty="0">
                <a:solidFill>
                  <a:srgbClr val="E4E9F5"/>
                </a:solidFill>
                <a:latin typeface="Calibri" pitchFamily="34" charset="0"/>
                <a:ea typeface="Calibri" pitchFamily="34" charset="-122"/>
                <a:cs typeface="Calibri" pitchFamily="34" charset="-120"/>
              </a:rPr>
              <a:t>Retrieval precision / recall</a:t>
            </a:r>
            <a:endParaRPr lang="en-US" sz="1000" dirty="0"/>
          </a:p>
          <a:p>
            <a:pPr marL="342900" indent="-342900">
              <a:spcAft>
                <a:spcPts val="500"/>
              </a:spcAft>
              <a:buSzPct val="100000"/>
              <a:buChar char="•"/>
            </a:pPr>
            <a:r>
              <a:rPr lang="en-US" sz="1000" dirty="0">
                <a:solidFill>
                  <a:srgbClr val="E4E9F5"/>
                </a:solidFill>
                <a:latin typeface="Calibri" pitchFamily="34" charset="0"/>
                <a:ea typeface="Calibri" pitchFamily="34" charset="-122"/>
                <a:cs typeface="Calibri" pitchFamily="34" charset="-120"/>
              </a:rPr>
              <a:t>Citation resolves to real source</a:t>
            </a:r>
            <a:endParaRPr lang="en-US" sz="1000" dirty="0"/>
          </a:p>
        </p:txBody>
      </p:sp>
      <p:sp>
        <p:nvSpPr>
          <p:cNvPr id="10" name="Shape 8"/>
          <p:cNvSpPr/>
          <p:nvPr/>
        </p:nvSpPr>
        <p:spPr>
          <a:xfrm>
            <a:off x="3401568" y="1737360"/>
            <a:ext cx="2514600" cy="3246120"/>
          </a:xfrm>
          <a:prstGeom prst="roundRect">
            <a:avLst>
              <a:gd name="adj" fmla="val 2182"/>
            </a:avLst>
          </a:prstGeom>
          <a:solidFill>
            <a:srgbClr val="2A3670"/>
          </a:solidFill>
          <a:ln w="12700">
            <a:solidFill>
              <a:srgbClr val="3E4C8A"/>
            </a:solidFill>
            <a:prstDash val="solid"/>
          </a:ln>
        </p:spPr>
      </p:sp>
      <p:sp>
        <p:nvSpPr>
          <p:cNvPr id="11" name="Shape 9"/>
          <p:cNvSpPr/>
          <p:nvPr/>
        </p:nvSpPr>
        <p:spPr>
          <a:xfrm>
            <a:off x="3584448" y="1920240"/>
            <a:ext cx="384048" cy="384048"/>
          </a:xfrm>
          <a:prstGeom prst="ellipse">
            <a:avLst/>
          </a:prstGeom>
          <a:solidFill>
            <a:srgbClr val="CADCFC"/>
          </a:solidFill>
          <a:ln/>
        </p:spPr>
      </p:sp>
      <p:sp>
        <p:nvSpPr>
          <p:cNvPr id="12" name="Text 10"/>
          <p:cNvSpPr/>
          <p:nvPr/>
        </p:nvSpPr>
        <p:spPr>
          <a:xfrm>
            <a:off x="3584448" y="1920240"/>
            <a:ext cx="384048" cy="38404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2</a:t>
            </a:r>
            <a:endParaRPr lang="en-US" sz="1200" dirty="0"/>
          </a:p>
        </p:txBody>
      </p:sp>
      <p:sp>
        <p:nvSpPr>
          <p:cNvPr id="13" name="Text 11"/>
          <p:cNvSpPr/>
          <p:nvPr/>
        </p:nvSpPr>
        <p:spPr>
          <a:xfrm>
            <a:off x="4059936" y="1920240"/>
            <a:ext cx="1737360" cy="384048"/>
          </a:xfrm>
          <a:prstGeom prst="rect">
            <a:avLst/>
          </a:prstGeom>
          <a:noFill/>
          <a:ln/>
        </p:spPr>
        <p:txBody>
          <a:bodyPr wrap="square" lIns="0" tIns="0" rIns="0" bIns="0" rtlCol="0" anchor="ctr"/>
          <a:lstStyle/>
          <a:p>
            <a:pPr indent="0" marL="0">
              <a:buNone/>
            </a:pPr>
            <a:r>
              <a:rPr lang="en-US" sz="1200" b="1" spc="80" kern="0" dirty="0">
                <a:solidFill>
                  <a:srgbClr val="FFFFFF"/>
                </a:solidFill>
                <a:latin typeface="Calibri" pitchFamily="34" charset="0"/>
                <a:ea typeface="Calibri" pitchFamily="34" charset="-122"/>
                <a:cs typeface="Calibri" pitchFamily="34" charset="-120"/>
              </a:rPr>
              <a:t>TRAJECTORY</a:t>
            </a:r>
            <a:endParaRPr lang="en-US" sz="1200" dirty="0"/>
          </a:p>
        </p:txBody>
      </p:sp>
      <p:sp>
        <p:nvSpPr>
          <p:cNvPr id="14" name="Text 12"/>
          <p:cNvSpPr/>
          <p:nvPr/>
        </p:nvSpPr>
        <p:spPr>
          <a:xfrm>
            <a:off x="3584448" y="2395728"/>
            <a:ext cx="2148840" cy="457200"/>
          </a:xfrm>
          <a:prstGeom prst="rect">
            <a:avLst/>
          </a:prstGeom>
          <a:noFill/>
          <a:ln/>
        </p:spPr>
        <p:txBody>
          <a:bodyPr wrap="square" lIns="0" tIns="0" rIns="0" bIns="0" rtlCol="0" anchor="ctr"/>
          <a:lstStyle/>
          <a:p>
            <a:pPr indent="0" marL="0">
              <a:buNone/>
            </a:pPr>
            <a:r>
              <a:rPr lang="en-US" sz="1000" i="1" dirty="0">
                <a:solidFill>
                  <a:srgbClr val="9DAAD0"/>
                </a:solidFill>
                <a:latin typeface="Calibri" pitchFamily="34" charset="0"/>
                <a:ea typeface="Calibri" pitchFamily="34" charset="-122"/>
                <a:cs typeface="Calibri" pitchFamily="34" charset="-120"/>
              </a:rPr>
              <a:t>Did it reason its way there?</a:t>
            </a:r>
            <a:endParaRPr lang="en-US" sz="1000" dirty="0"/>
          </a:p>
        </p:txBody>
      </p:sp>
      <p:sp>
        <p:nvSpPr>
          <p:cNvPr id="15" name="Text 13"/>
          <p:cNvSpPr/>
          <p:nvPr/>
        </p:nvSpPr>
        <p:spPr>
          <a:xfrm>
            <a:off x="3584448" y="2926080"/>
            <a:ext cx="2148840" cy="187452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E4E9F5"/>
                </a:solidFill>
                <a:latin typeface="Calibri" pitchFamily="34" charset="0"/>
                <a:ea typeface="Calibri" pitchFamily="34" charset="-122"/>
                <a:cs typeface="Calibri" pitchFamily="34" charset="-120"/>
              </a:rPr>
              <a:t>Correct sub-agent routed</a:t>
            </a:r>
            <a:endParaRPr lang="en-US" sz="1000" dirty="0"/>
          </a:p>
          <a:p>
            <a:pPr marL="342900" indent="-342900">
              <a:spcAft>
                <a:spcPts val="500"/>
              </a:spcAft>
              <a:buSzPct val="100000"/>
              <a:buChar char="•"/>
            </a:pPr>
            <a:r>
              <a:rPr lang="en-US" sz="1000" dirty="0">
                <a:solidFill>
                  <a:srgbClr val="E4E9F5"/>
                </a:solidFill>
                <a:latin typeface="Calibri" pitchFamily="34" charset="0"/>
                <a:ea typeface="Calibri" pitchFamily="34" charset="-122"/>
                <a:cs typeface="Calibri" pitchFamily="34" charset="-120"/>
              </a:rPr>
              <a:t>No skipped or invented steps</a:t>
            </a:r>
            <a:endParaRPr lang="en-US" sz="1000" dirty="0"/>
          </a:p>
          <a:p>
            <a:pPr marL="342900" indent="-342900">
              <a:spcAft>
                <a:spcPts val="500"/>
              </a:spcAft>
              <a:buSzPct val="100000"/>
              <a:buChar char="•"/>
            </a:pPr>
            <a:r>
              <a:rPr lang="en-US" sz="1000" dirty="0">
                <a:solidFill>
                  <a:srgbClr val="E4E9F5"/>
                </a:solidFill>
                <a:latin typeface="Calibri" pitchFamily="34" charset="0"/>
                <a:ea typeface="Calibri" pitchFamily="34" charset="-122"/>
                <a:cs typeface="Calibri" pitchFamily="34" charset="-120"/>
              </a:rPr>
              <a:t>Tool-call argument validity</a:t>
            </a:r>
            <a:endParaRPr lang="en-US" sz="1000" dirty="0"/>
          </a:p>
        </p:txBody>
      </p:sp>
      <p:sp>
        <p:nvSpPr>
          <p:cNvPr id="16" name="Shape 14"/>
          <p:cNvSpPr/>
          <p:nvPr/>
        </p:nvSpPr>
        <p:spPr>
          <a:xfrm>
            <a:off x="6163056" y="1737360"/>
            <a:ext cx="2514600" cy="3246120"/>
          </a:xfrm>
          <a:prstGeom prst="roundRect">
            <a:avLst>
              <a:gd name="adj" fmla="val 2182"/>
            </a:avLst>
          </a:prstGeom>
          <a:solidFill>
            <a:srgbClr val="2A3670"/>
          </a:solidFill>
          <a:ln w="12700">
            <a:solidFill>
              <a:srgbClr val="3E4C8A"/>
            </a:solidFill>
            <a:prstDash val="solid"/>
          </a:ln>
        </p:spPr>
      </p:sp>
      <p:sp>
        <p:nvSpPr>
          <p:cNvPr id="17" name="Shape 15"/>
          <p:cNvSpPr/>
          <p:nvPr/>
        </p:nvSpPr>
        <p:spPr>
          <a:xfrm>
            <a:off x="6345936" y="1920240"/>
            <a:ext cx="384048" cy="384048"/>
          </a:xfrm>
          <a:prstGeom prst="ellipse">
            <a:avLst/>
          </a:prstGeom>
          <a:solidFill>
            <a:srgbClr val="CADCFC"/>
          </a:solidFill>
          <a:ln/>
        </p:spPr>
      </p:sp>
      <p:sp>
        <p:nvSpPr>
          <p:cNvPr id="18" name="Text 16"/>
          <p:cNvSpPr/>
          <p:nvPr/>
        </p:nvSpPr>
        <p:spPr>
          <a:xfrm>
            <a:off x="6345936" y="1920240"/>
            <a:ext cx="384048" cy="38404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3</a:t>
            </a:r>
            <a:endParaRPr lang="en-US" sz="1200" dirty="0"/>
          </a:p>
        </p:txBody>
      </p:sp>
      <p:sp>
        <p:nvSpPr>
          <p:cNvPr id="19" name="Text 17"/>
          <p:cNvSpPr/>
          <p:nvPr/>
        </p:nvSpPr>
        <p:spPr>
          <a:xfrm>
            <a:off x="6821424" y="1920240"/>
            <a:ext cx="1737360" cy="384048"/>
          </a:xfrm>
          <a:prstGeom prst="rect">
            <a:avLst/>
          </a:prstGeom>
          <a:noFill/>
          <a:ln/>
        </p:spPr>
        <p:txBody>
          <a:bodyPr wrap="square" lIns="0" tIns="0" rIns="0" bIns="0" rtlCol="0" anchor="ctr"/>
          <a:lstStyle/>
          <a:p>
            <a:pPr indent="0" marL="0">
              <a:buNone/>
            </a:pPr>
            <a:r>
              <a:rPr lang="en-US" sz="1200" b="1" spc="80" kern="0" dirty="0">
                <a:solidFill>
                  <a:srgbClr val="FFFFFF"/>
                </a:solidFill>
                <a:latin typeface="Calibri" pitchFamily="34" charset="0"/>
                <a:ea typeface="Calibri" pitchFamily="34" charset="-122"/>
                <a:cs typeface="Calibri" pitchFamily="34" charset="-120"/>
              </a:rPr>
              <a:t>END-TO-END</a:t>
            </a:r>
            <a:endParaRPr lang="en-US" sz="1200" dirty="0"/>
          </a:p>
        </p:txBody>
      </p:sp>
      <p:sp>
        <p:nvSpPr>
          <p:cNvPr id="20" name="Text 18"/>
          <p:cNvSpPr/>
          <p:nvPr/>
        </p:nvSpPr>
        <p:spPr>
          <a:xfrm>
            <a:off x="6345936" y="2395728"/>
            <a:ext cx="2148840" cy="457200"/>
          </a:xfrm>
          <a:prstGeom prst="rect">
            <a:avLst/>
          </a:prstGeom>
          <a:noFill/>
          <a:ln/>
        </p:spPr>
        <p:txBody>
          <a:bodyPr wrap="square" lIns="0" tIns="0" rIns="0" bIns="0" rtlCol="0" anchor="ctr"/>
          <a:lstStyle/>
          <a:p>
            <a:pPr indent="0" marL="0">
              <a:buNone/>
            </a:pPr>
            <a:r>
              <a:rPr lang="en-US" sz="1000" i="1" dirty="0">
                <a:solidFill>
                  <a:srgbClr val="9DAAD0"/>
                </a:solidFill>
                <a:latin typeface="Calibri" pitchFamily="34" charset="0"/>
                <a:ea typeface="Calibri" pitchFamily="34" charset="-122"/>
                <a:cs typeface="Calibri" pitchFamily="34" charset="-120"/>
              </a:rPr>
              <a:t>Is the answer any good?</a:t>
            </a:r>
            <a:endParaRPr lang="en-US" sz="1000" dirty="0"/>
          </a:p>
        </p:txBody>
      </p:sp>
      <p:sp>
        <p:nvSpPr>
          <p:cNvPr id="21" name="Text 19"/>
          <p:cNvSpPr/>
          <p:nvPr/>
        </p:nvSpPr>
        <p:spPr>
          <a:xfrm>
            <a:off x="6345936" y="2926080"/>
            <a:ext cx="2148840" cy="187452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E4E9F5"/>
                </a:solidFill>
                <a:latin typeface="Calibri" pitchFamily="34" charset="0"/>
                <a:ea typeface="Calibri" pitchFamily="34" charset="-122"/>
                <a:cs typeface="Calibri" pitchFamily="34" charset="-120"/>
              </a:rPr>
              <a:t>Frozen case regression suite</a:t>
            </a:r>
            <a:endParaRPr lang="en-US" sz="1000" dirty="0"/>
          </a:p>
          <a:p>
            <a:pPr marL="342900" indent="-342900">
              <a:spcAft>
                <a:spcPts val="500"/>
              </a:spcAft>
              <a:buSzPct val="100000"/>
              <a:buChar char="•"/>
            </a:pPr>
            <a:r>
              <a:rPr lang="en-US" sz="1000" dirty="0">
                <a:solidFill>
                  <a:srgbClr val="E4E9F5"/>
                </a:solidFill>
                <a:latin typeface="Calibri" pitchFamily="34" charset="0"/>
                <a:ea typeface="Calibri" pitchFamily="34" charset="-122"/>
                <a:cs typeface="Calibri" pitchFamily="34" charset="-120"/>
              </a:rPr>
              <a:t>Analyst preference vs baseline</a:t>
            </a:r>
            <a:endParaRPr lang="en-US" sz="1000" dirty="0"/>
          </a:p>
          <a:p>
            <a:pPr marL="342900" indent="-342900">
              <a:spcAft>
                <a:spcPts val="500"/>
              </a:spcAft>
              <a:buSzPct val="100000"/>
              <a:buChar char="•"/>
            </a:pPr>
            <a:r>
              <a:rPr lang="en-US" sz="1000" dirty="0">
                <a:solidFill>
                  <a:srgbClr val="E4E9F5"/>
                </a:solidFill>
                <a:latin typeface="Calibri" pitchFamily="34" charset="0"/>
                <a:ea typeface="Calibri" pitchFamily="34" charset="-122"/>
                <a:cs typeface="Calibri" pitchFamily="34" charset="-120"/>
              </a:rPr>
              <a:t>Backtest on historical readouts</a:t>
            </a:r>
            <a:endParaRPr lang="en-US" sz="1000" dirty="0"/>
          </a:p>
        </p:txBody>
      </p:sp>
      <p:sp>
        <p:nvSpPr>
          <p:cNvPr id="22" name="Shape 20"/>
          <p:cNvSpPr/>
          <p:nvPr/>
        </p:nvSpPr>
        <p:spPr>
          <a:xfrm>
            <a:off x="8924544" y="1737360"/>
            <a:ext cx="2514600" cy="3246120"/>
          </a:xfrm>
          <a:prstGeom prst="roundRect">
            <a:avLst>
              <a:gd name="adj" fmla="val 2182"/>
            </a:avLst>
          </a:prstGeom>
          <a:solidFill>
            <a:srgbClr val="2A3670"/>
          </a:solidFill>
          <a:ln w="12700">
            <a:solidFill>
              <a:srgbClr val="3E4C8A"/>
            </a:solidFill>
            <a:prstDash val="solid"/>
          </a:ln>
        </p:spPr>
      </p:sp>
      <p:sp>
        <p:nvSpPr>
          <p:cNvPr id="23" name="Shape 21"/>
          <p:cNvSpPr/>
          <p:nvPr/>
        </p:nvSpPr>
        <p:spPr>
          <a:xfrm>
            <a:off x="9107424" y="1920240"/>
            <a:ext cx="384048" cy="384048"/>
          </a:xfrm>
          <a:prstGeom prst="ellipse">
            <a:avLst/>
          </a:prstGeom>
          <a:solidFill>
            <a:srgbClr val="C8862A"/>
          </a:solidFill>
          <a:ln/>
        </p:spPr>
      </p:sp>
      <p:sp>
        <p:nvSpPr>
          <p:cNvPr id="24" name="Text 22"/>
          <p:cNvSpPr/>
          <p:nvPr/>
        </p:nvSpPr>
        <p:spPr>
          <a:xfrm>
            <a:off x="9107424" y="1920240"/>
            <a:ext cx="384048" cy="384048"/>
          </a:xfrm>
          <a:prstGeom prst="rect">
            <a:avLst/>
          </a:prstGeom>
          <a:noFill/>
          <a:ln/>
        </p:spPr>
        <p:txBody>
          <a:bodyPr wrap="square" lIns="0" tIns="0" rIns="0" bIns="0" rtlCol="0" anchor="ctr"/>
          <a:lstStyle/>
          <a:p>
            <a:pPr algn="ctr" indent="0" marL="0">
              <a:buNone/>
            </a:pPr>
            <a:r>
              <a:rPr lang="en-US" sz="1200" b="1" dirty="0">
                <a:solidFill>
                  <a:srgbClr val="1E2761"/>
                </a:solidFill>
                <a:latin typeface="Calibri" pitchFamily="34" charset="0"/>
                <a:ea typeface="Calibri" pitchFamily="34" charset="-122"/>
                <a:cs typeface="Calibri" pitchFamily="34" charset="-120"/>
              </a:rPr>
              <a:t>4</a:t>
            </a:r>
            <a:endParaRPr lang="en-US" sz="1200" dirty="0"/>
          </a:p>
        </p:txBody>
      </p:sp>
      <p:sp>
        <p:nvSpPr>
          <p:cNvPr id="25" name="Text 23"/>
          <p:cNvSpPr/>
          <p:nvPr/>
        </p:nvSpPr>
        <p:spPr>
          <a:xfrm>
            <a:off x="9582912" y="1920240"/>
            <a:ext cx="1737360" cy="384048"/>
          </a:xfrm>
          <a:prstGeom prst="rect">
            <a:avLst/>
          </a:prstGeom>
          <a:noFill/>
          <a:ln/>
        </p:spPr>
        <p:txBody>
          <a:bodyPr wrap="square" lIns="0" tIns="0" rIns="0" bIns="0" rtlCol="0" anchor="ctr"/>
          <a:lstStyle/>
          <a:p>
            <a:pPr indent="0" marL="0">
              <a:buNone/>
            </a:pPr>
            <a:r>
              <a:rPr lang="en-US" sz="1200" b="1" spc="80" kern="0" dirty="0">
                <a:solidFill>
                  <a:srgbClr val="FFFFFF"/>
                </a:solidFill>
                <a:latin typeface="Calibri" pitchFamily="34" charset="0"/>
                <a:ea typeface="Calibri" pitchFamily="34" charset="-122"/>
                <a:cs typeface="Calibri" pitchFamily="34" charset="-120"/>
              </a:rPr>
              <a:t>DECISION</a:t>
            </a:r>
            <a:endParaRPr lang="en-US" sz="1200" dirty="0"/>
          </a:p>
        </p:txBody>
      </p:sp>
      <p:sp>
        <p:nvSpPr>
          <p:cNvPr id="26" name="Text 24"/>
          <p:cNvSpPr/>
          <p:nvPr/>
        </p:nvSpPr>
        <p:spPr>
          <a:xfrm>
            <a:off x="9107424" y="2395728"/>
            <a:ext cx="2148840" cy="457200"/>
          </a:xfrm>
          <a:prstGeom prst="rect">
            <a:avLst/>
          </a:prstGeom>
          <a:noFill/>
          <a:ln/>
        </p:spPr>
        <p:txBody>
          <a:bodyPr wrap="square" lIns="0" tIns="0" rIns="0" bIns="0" rtlCol="0" anchor="ctr"/>
          <a:lstStyle/>
          <a:p>
            <a:pPr indent="0" marL="0">
              <a:buNone/>
            </a:pPr>
            <a:r>
              <a:rPr lang="en-US" sz="1000" i="1" dirty="0">
                <a:solidFill>
                  <a:srgbClr val="9DAAD0"/>
                </a:solidFill>
                <a:latin typeface="Calibri" pitchFamily="34" charset="0"/>
                <a:ea typeface="Calibri" pitchFamily="34" charset="-122"/>
                <a:cs typeface="Calibri" pitchFamily="34" charset="-120"/>
              </a:rPr>
              <a:t>Did it change what we did?</a:t>
            </a:r>
            <a:endParaRPr lang="en-US" sz="1000" dirty="0"/>
          </a:p>
        </p:txBody>
      </p:sp>
      <p:sp>
        <p:nvSpPr>
          <p:cNvPr id="27" name="Text 25"/>
          <p:cNvSpPr/>
          <p:nvPr/>
        </p:nvSpPr>
        <p:spPr>
          <a:xfrm>
            <a:off x="9107424" y="2926080"/>
            <a:ext cx="2148840" cy="1874520"/>
          </a:xfrm>
          <a:prstGeom prst="rect">
            <a:avLst/>
          </a:prstGeom>
          <a:noFill/>
          <a:ln/>
        </p:spPr>
        <p:txBody>
          <a:bodyPr wrap="square" lIns="0" tIns="0" rIns="0" bIns="0" rtlCol="0" anchor="t"/>
          <a:lstStyle/>
          <a:p>
            <a:pPr marL="342900" indent="-342900">
              <a:spcAft>
                <a:spcPts val="500"/>
              </a:spcAft>
              <a:buSzPct val="100000"/>
              <a:buChar char="•"/>
            </a:pPr>
            <a:r>
              <a:rPr lang="en-US" sz="1000" dirty="0">
                <a:solidFill>
                  <a:srgbClr val="E4E9F5"/>
                </a:solidFill>
                <a:latin typeface="Calibri" pitchFamily="34" charset="0"/>
                <a:ea typeface="Calibri" pitchFamily="34" charset="-122"/>
                <a:cs typeface="Calibri" pitchFamily="34" charset="-120"/>
              </a:rPr>
              <a:t>Calibration of stated probabilities</a:t>
            </a:r>
            <a:endParaRPr lang="en-US" sz="1000" dirty="0"/>
          </a:p>
          <a:p>
            <a:pPr marL="342900" indent="-342900">
              <a:spcAft>
                <a:spcPts val="500"/>
              </a:spcAft>
              <a:buSzPct val="100000"/>
              <a:buChar char="•"/>
            </a:pPr>
            <a:r>
              <a:rPr lang="en-US" sz="1000" dirty="0">
                <a:solidFill>
                  <a:srgbClr val="E4E9F5"/>
                </a:solidFill>
                <a:latin typeface="Calibri" pitchFamily="34" charset="0"/>
                <a:ea typeface="Calibri" pitchFamily="34" charset="-122"/>
                <a:cs typeface="Calibri" pitchFamily="34" charset="-120"/>
              </a:rPr>
              <a:t>Brier / log score vs analyst</a:t>
            </a:r>
            <a:endParaRPr lang="en-US" sz="1000" dirty="0"/>
          </a:p>
          <a:p>
            <a:pPr marL="342900" indent="-342900">
              <a:spcAft>
                <a:spcPts val="500"/>
              </a:spcAft>
              <a:buSzPct val="100000"/>
              <a:buChar char="•"/>
            </a:pPr>
            <a:r>
              <a:rPr lang="en-US" sz="1000" dirty="0">
                <a:solidFill>
                  <a:srgbClr val="E4E9F5"/>
                </a:solidFill>
                <a:latin typeface="Calibri" pitchFamily="34" charset="0"/>
                <a:ea typeface="Calibri" pitchFamily="34" charset="-122"/>
                <a:cs typeface="Calibri" pitchFamily="34" charset="-120"/>
              </a:rPr>
              <a:t>Time-to-insight, coverage of portfolio</a:t>
            </a:r>
            <a:endParaRPr lang="en-US" sz="1000" dirty="0"/>
          </a:p>
        </p:txBody>
      </p:sp>
      <p:sp>
        <p:nvSpPr>
          <p:cNvPr id="28" name="Shape 26"/>
          <p:cNvSpPr/>
          <p:nvPr/>
        </p:nvSpPr>
        <p:spPr>
          <a:xfrm>
            <a:off x="640080" y="5230368"/>
            <a:ext cx="10853928" cy="1024128"/>
          </a:xfrm>
          <a:prstGeom prst="roundRect">
            <a:avLst>
              <a:gd name="adj" fmla="val 5357"/>
            </a:avLst>
          </a:prstGeom>
          <a:solidFill>
            <a:srgbClr val="2A3670"/>
          </a:solidFill>
          <a:ln w="15875">
            <a:solidFill>
              <a:srgbClr val="C8862A"/>
            </a:solidFill>
            <a:prstDash val="solid"/>
          </a:ln>
        </p:spPr>
      </p:sp>
      <p:sp>
        <p:nvSpPr>
          <p:cNvPr id="29" name="Text 27"/>
          <p:cNvSpPr/>
          <p:nvPr/>
        </p:nvSpPr>
        <p:spPr>
          <a:xfrm>
            <a:off x="868680" y="5349240"/>
            <a:ext cx="10424160" cy="804672"/>
          </a:xfrm>
          <a:prstGeom prst="rect">
            <a:avLst/>
          </a:prstGeom>
          <a:noFill/>
          <a:ln/>
        </p:spPr>
        <p:txBody>
          <a:bodyPr wrap="square" lIns="0" tIns="0" rIns="0" bIns="0" rtlCol="0" anchor="ctr"/>
          <a:lstStyle/>
          <a:p>
            <a:pPr indent="0" marL="0">
              <a:buNone/>
            </a:pPr>
            <a:r>
              <a:rPr lang="en-US" sz="1200" b="1" dirty="0">
                <a:solidFill>
                  <a:srgbClr val="C8862A"/>
                </a:solidFill>
                <a:latin typeface="Calibri" pitchFamily="34" charset="0"/>
                <a:ea typeface="Calibri" pitchFamily="34" charset="-122"/>
                <a:cs typeface="Calibri" pitchFamily="34" charset="-120"/>
              </a:rPr>
              <a:t>The ground-truth problem.  </a:t>
            </a:r>
            <a:pPr indent="0" marL="0">
              <a:buNone/>
            </a:pPr>
            <a:r>
              <a:rPr lang="en-US" sz="1150" dirty="0">
                <a:solidFill>
                  <a:srgbClr val="E4E9F5"/>
                </a:solidFill>
                <a:latin typeface="Calibri" pitchFamily="34" charset="0"/>
                <a:ea typeface="Calibri" pitchFamily="34" charset="-122"/>
                <a:cs typeface="Calibri" pitchFamily="34" charset="-120"/>
              </a:rPr>
              <a:t>Outcomes land years after the call. Calibration, however, is measurable today: run the system on readouts that have already happened, hold out what it must not see, and ask whether its stated 70% came true 70% of the time. A system that is wrong but calibrated is usable. A system that is right but overconfident is not.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Agentic AI Investment Research System</dc:title>
  <dc:subject>PptxGenJS Presentation</dc:subject>
  <dc:creator>Jonas Denck</dc:creator>
  <cp:lastModifiedBy>Jonas Denck</cp:lastModifiedBy>
  <cp:revision>1</cp:revision>
  <dcterms:created xsi:type="dcterms:W3CDTF">2026-07-10T16:34:20Z</dcterms:created>
  <dcterms:modified xsi:type="dcterms:W3CDTF">2026-07-10T16:34:20Z</dcterms:modified>
</cp:coreProperties>
</file>